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</p:sldMasterIdLst>
  <p:notesMasterIdLst>
    <p:notesMasterId r:id="rId24"/>
  </p:notesMasterIdLst>
  <p:sldIdLst>
    <p:sldId id="293" r:id="rId6"/>
    <p:sldId id="337" r:id="rId7"/>
    <p:sldId id="258" r:id="rId8"/>
    <p:sldId id="259" r:id="rId9"/>
    <p:sldId id="260" r:id="rId10"/>
    <p:sldId id="295" r:id="rId11"/>
    <p:sldId id="262" r:id="rId12"/>
    <p:sldId id="264" r:id="rId13"/>
    <p:sldId id="265" r:id="rId14"/>
    <p:sldId id="267" r:id="rId15"/>
    <p:sldId id="269" r:id="rId16"/>
    <p:sldId id="271" r:id="rId17"/>
    <p:sldId id="272" r:id="rId18"/>
    <p:sldId id="273" r:id="rId19"/>
    <p:sldId id="296" r:id="rId20"/>
    <p:sldId id="274" r:id="rId21"/>
    <p:sldId id="275" r:id="rId22"/>
    <p:sldId id="294" r:id="rId23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92">
          <p15:clr>
            <a:srgbClr val="A4A3A4"/>
          </p15:clr>
        </p15:guide>
        <p15:guide id="3" orient="horz" pos="4180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CF63"/>
    <a:srgbClr val="222222"/>
    <a:srgbClr val="B9DA89"/>
    <a:srgbClr val="C5E09D"/>
    <a:srgbClr val="4F6F19"/>
    <a:srgbClr val="ABD274"/>
    <a:srgbClr val="262626"/>
    <a:srgbClr val="807F83"/>
    <a:srgbClr val="292929"/>
    <a:srgbClr val="3D5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432" autoAdjust="0"/>
    <p:restoredTop sz="86447" autoAdjust="0"/>
  </p:normalViewPr>
  <p:slideViewPr>
    <p:cSldViewPr snapToGrid="0">
      <p:cViewPr varScale="1">
        <p:scale>
          <a:sx n="67" d="100"/>
          <a:sy n="67" d="100"/>
        </p:scale>
        <p:origin x="884" y="52"/>
      </p:cViewPr>
      <p:guideLst>
        <p:guide orient="horz" pos="2160"/>
        <p:guide orient="horz" pos="1092"/>
        <p:guide orient="horz" pos="4180"/>
        <p:guide pos="2880"/>
      </p:guideLst>
    </p:cSldViewPr>
  </p:slideViewPr>
  <p:outlineViewPr>
    <p:cViewPr>
      <p:scale>
        <a:sx n="33" d="100"/>
        <a:sy n="33" d="100"/>
      </p:scale>
      <p:origin x="206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, Somu Karthik" userId="e7813b13-e392-47df-97db-f6ca7963f7fe" providerId="ADAL" clId="{CD94A627-D46E-43EC-8AC8-4114B6D2AD03}"/>
    <pc:docChg chg="delSld modSld">
      <pc:chgData name="P, Somu Karthik" userId="e7813b13-e392-47df-97db-f6ca7963f7fe" providerId="ADAL" clId="{CD94A627-D46E-43EC-8AC8-4114B6D2AD03}" dt="2022-02-22T09:00:54.657" v="7" actId="6549"/>
      <pc:docMkLst>
        <pc:docMk/>
      </pc:docMkLst>
      <pc:sldChg chg="modSp mod">
        <pc:chgData name="P, Somu Karthik" userId="e7813b13-e392-47df-97db-f6ca7963f7fe" providerId="ADAL" clId="{CD94A627-D46E-43EC-8AC8-4114B6D2AD03}" dt="2022-02-22T08:59:44.238" v="4" actId="13926"/>
        <pc:sldMkLst>
          <pc:docMk/>
          <pc:sldMk cId="1930508867" sldId="275"/>
        </pc:sldMkLst>
        <pc:spChg chg="mod">
          <ac:chgData name="P, Somu Karthik" userId="e7813b13-e392-47df-97db-f6ca7963f7fe" providerId="ADAL" clId="{CD94A627-D46E-43EC-8AC8-4114B6D2AD03}" dt="2022-02-22T08:59:44.238" v="4" actId="13926"/>
          <ac:spMkLst>
            <pc:docMk/>
            <pc:sldMk cId="1930508867" sldId="275"/>
            <ac:spMk id="134147" creationId="{8EBDF90E-7F92-43AF-BE4E-19258F3840A3}"/>
          </ac:spMkLst>
        </pc:spChg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1590576692" sldId="276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201937999" sldId="277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3700147460" sldId="278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3520118248" sldId="279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1928271485" sldId="281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3476021906" sldId="282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4257545411" sldId="284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3468075670" sldId="285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3743470840" sldId="286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819813075" sldId="287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2634633267" sldId="289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1870022134" sldId="290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1921493081" sldId="291"/>
        </pc:sldMkLst>
      </pc:sldChg>
      <pc:sldChg chg="del">
        <pc:chgData name="P, Somu Karthik" userId="e7813b13-e392-47df-97db-f6ca7963f7fe" providerId="ADAL" clId="{CD94A627-D46E-43EC-8AC8-4114B6D2AD03}" dt="2022-02-22T08:59:30.989" v="0" actId="47"/>
        <pc:sldMkLst>
          <pc:docMk/>
          <pc:sldMk cId="59515928" sldId="297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618709422" sldId="298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749431826" sldId="299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1532770078" sldId="300"/>
        </pc:sldMkLst>
      </pc:sldChg>
      <pc:sldChg chg="del">
        <pc:chgData name="P, Somu Karthik" userId="e7813b13-e392-47df-97db-f6ca7963f7fe" providerId="ADAL" clId="{CD94A627-D46E-43EC-8AC8-4114B6D2AD03}" dt="2022-02-22T09:00:09.759" v="5" actId="47"/>
        <pc:sldMkLst>
          <pc:docMk/>
          <pc:sldMk cId="3138096299" sldId="301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737084944" sldId="302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4085794833" sldId="303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3837869740" sldId="304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4273564146" sldId="305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2109276275" sldId="306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3836693281" sldId="307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1698764209" sldId="308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1534514510" sldId="309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3270961582" sldId="310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4189318415" sldId="311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2661197427" sldId="312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1656371820" sldId="313"/>
        </pc:sldMkLst>
      </pc:sldChg>
      <pc:sldChg chg="del">
        <pc:chgData name="P, Somu Karthik" userId="e7813b13-e392-47df-97db-f6ca7963f7fe" providerId="ADAL" clId="{CD94A627-D46E-43EC-8AC8-4114B6D2AD03}" dt="2022-02-22T09:00:38.229" v="6" actId="47"/>
        <pc:sldMkLst>
          <pc:docMk/>
          <pc:sldMk cId="4280572018" sldId="314"/>
        </pc:sldMkLst>
      </pc:sldChg>
      <pc:sldChg chg="modSp mod">
        <pc:chgData name="P, Somu Karthik" userId="e7813b13-e392-47df-97db-f6ca7963f7fe" providerId="ADAL" clId="{CD94A627-D46E-43EC-8AC8-4114B6D2AD03}" dt="2022-02-22T09:00:54.657" v="7" actId="6549"/>
        <pc:sldMkLst>
          <pc:docMk/>
          <pc:sldMk cId="1860252866" sldId="337"/>
        </pc:sldMkLst>
        <pc:spChg chg="mod">
          <ac:chgData name="P, Somu Karthik" userId="e7813b13-e392-47df-97db-f6ca7963f7fe" providerId="ADAL" clId="{CD94A627-D46E-43EC-8AC8-4114B6D2AD03}" dt="2022-02-22T09:00:54.657" v="7" actId="6549"/>
          <ac:spMkLst>
            <pc:docMk/>
            <pc:sldMk cId="1860252866" sldId="337"/>
            <ac:spMk id="3" creationId="{4DD8F8E3-69B3-4523-9E16-6F36A5760249}"/>
          </ac:spMkLst>
        </pc:spChg>
      </pc:sldChg>
      <pc:sldMasterChg chg="delSldLayout">
        <pc:chgData name="P, Somu Karthik" userId="e7813b13-e392-47df-97db-f6ca7963f7fe" providerId="ADAL" clId="{CD94A627-D46E-43EC-8AC8-4114B6D2AD03}" dt="2022-02-22T09:00:09.759" v="5" actId="47"/>
        <pc:sldMasterMkLst>
          <pc:docMk/>
          <pc:sldMasterMk cId="0" sldId="2147483648"/>
        </pc:sldMasterMkLst>
        <pc:sldLayoutChg chg="del">
          <pc:chgData name="P, Somu Karthik" userId="e7813b13-e392-47df-97db-f6ca7963f7fe" providerId="ADAL" clId="{CD94A627-D46E-43EC-8AC8-4114B6D2AD03}" dt="2022-02-22T09:00:09.759" v="5" actId="47"/>
          <pc:sldLayoutMkLst>
            <pc:docMk/>
            <pc:sldMasterMk cId="0" sldId="2147483648"/>
            <pc:sldLayoutMk cId="4079808329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8B904F7-B3AE-4150-848F-DE7C9137B812}" type="datetimeFigureOut">
              <a:rPr lang="en-US"/>
              <a:pPr>
                <a:defRPr/>
              </a:pPr>
              <a:t>2/22/2022</a:t>
            </a:fld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D964F34-BF8D-4C55-85D5-09C073D647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844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gray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78824" y="4318001"/>
            <a:ext cx="4876800" cy="1008841"/>
          </a:xfrm>
        </p:spPr>
        <p:txBody>
          <a:bodyPr anchor="b">
            <a:normAutofit/>
          </a:bodyPr>
          <a:lstStyle>
            <a:lvl1pPr algn="l">
              <a:defRPr sz="2800">
                <a:solidFill>
                  <a:srgbClr val="26262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78824" y="5326842"/>
            <a:ext cx="4876800" cy="1202765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733550"/>
            <a:ext cx="8305800" cy="4438650"/>
          </a:xfrm>
        </p:spPr>
        <p:txBody>
          <a:bodyPr/>
          <a:lstStyle>
            <a:lvl1pPr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Font typeface="Arial" pitchFamily="34" charset="0"/>
              <a:buChar char="–"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039100" y="6477000"/>
            <a:ext cx="6858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258C4-666F-437C-BCA1-7A42258BCC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8039100" y="6477000"/>
            <a:ext cx="685800" cy="228600"/>
          </a:xfrm>
        </p:spPr>
        <p:txBody>
          <a:bodyPr/>
          <a:lstStyle/>
          <a:p>
            <a:pPr>
              <a:defRPr/>
            </a:pPr>
            <a:fld id="{97682614-2917-43EC-8DD5-4144BBD4E7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733550"/>
            <a:ext cx="3886200" cy="443865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Font typeface="Arial" pitchFamily="34" charset="0"/>
              <a:buChar char="–"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648200" y="1733550"/>
            <a:ext cx="3886200" cy="443865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buFont typeface="Arial" pitchFamily="34" charset="0"/>
              <a:buChar char="–"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0123" y="1238250"/>
            <a:ext cx="9154123" cy="4821028"/>
          </a:xfrm>
          <a:prstGeom prst="rect">
            <a:avLst/>
          </a:prstGeom>
          <a:gradFill flip="none" rotWithShape="1">
            <a:gsLst>
              <a:gs pos="0">
                <a:srgbClr val="B3B2B5">
                  <a:tint val="66000"/>
                  <a:satMod val="160000"/>
                </a:srgbClr>
              </a:gs>
              <a:gs pos="50000">
                <a:srgbClr val="B3B2B5">
                  <a:tint val="44500"/>
                  <a:satMod val="160000"/>
                </a:srgbClr>
              </a:gs>
              <a:gs pos="100000">
                <a:srgbClr val="B3B2B5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039100" y="6477000"/>
            <a:ext cx="6858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03AAB-E503-4774-B78C-C97D3052DA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195263"/>
            <a:ext cx="6096000" cy="838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pictur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0"/>
          <p:cNvSpPr>
            <a:spLocks noGrp="1"/>
          </p:cNvSpPr>
          <p:nvPr>
            <p:ph type="title" hasCustomPrompt="1"/>
          </p:nvPr>
        </p:nvSpPr>
        <p:spPr>
          <a:xfrm>
            <a:off x="382588" y="668433"/>
            <a:ext cx="6012000" cy="1833019"/>
          </a:xfrm>
        </p:spPr>
        <p:txBody>
          <a:bodyPr anchor="b" anchorCtr="0">
            <a:noAutofit/>
          </a:bodyPr>
          <a:lstStyle>
            <a:lvl1pPr>
              <a:defRPr sz="5000" spc="-100" baseline="0">
                <a:solidFill>
                  <a:schemeClr val="bg2"/>
                </a:solidFill>
              </a:defRPr>
            </a:lvl1pPr>
          </a:lstStyle>
          <a:p>
            <a:r>
              <a:rPr lang="fi-FI" dirty="0"/>
              <a:t>Presentation title</a:t>
            </a:r>
            <a:endParaRPr 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382588" y="3007555"/>
            <a:ext cx="6012000" cy="146050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 b="0">
                <a:solidFill>
                  <a:schemeClr val="bg2"/>
                </a:solidFill>
              </a:defRPr>
            </a:lvl1pPr>
            <a:lvl2pPr>
              <a:defRPr>
                <a:solidFill>
                  <a:srgbClr val="004F71"/>
                </a:solidFill>
              </a:defRPr>
            </a:lvl2pPr>
            <a:lvl3pPr>
              <a:defRPr>
                <a:solidFill>
                  <a:srgbClr val="004F71"/>
                </a:solidFill>
              </a:defRPr>
            </a:lvl3pPr>
            <a:lvl4pPr>
              <a:defRPr>
                <a:solidFill>
                  <a:srgbClr val="004F71"/>
                </a:solidFill>
              </a:defRPr>
            </a:lvl4pPr>
            <a:lvl5pPr>
              <a:defRPr>
                <a:solidFill>
                  <a:srgbClr val="004F71"/>
                </a:solidFill>
              </a:defRPr>
            </a:lvl5pPr>
          </a:lstStyle>
          <a:p>
            <a:pPr lvl="0"/>
            <a:r>
              <a:rPr lang="fi-FI" dirty="0"/>
              <a:t>Presentation subtitle</a:t>
            </a:r>
          </a:p>
        </p:txBody>
      </p:sp>
      <p:sp>
        <p:nvSpPr>
          <p:cNvPr id="21" name="Tekstin paikkamerkki 6"/>
          <p:cNvSpPr>
            <a:spLocks noGrp="1"/>
          </p:cNvSpPr>
          <p:nvPr>
            <p:ph type="body" sz="quarter" idx="14" hasCustomPrompt="1"/>
          </p:nvPr>
        </p:nvSpPr>
        <p:spPr>
          <a:xfrm>
            <a:off x="381600" y="6193855"/>
            <a:ext cx="2833200" cy="216000"/>
          </a:xfrm>
        </p:spPr>
        <p:txBody>
          <a:bodyPr/>
          <a:lstStyle>
            <a:lvl1pPr marL="0" indent="0">
              <a:buFontTx/>
              <a:buNone/>
              <a:defRPr sz="13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fi-FI" dirty="0" err="1"/>
              <a:t>Date</a:t>
            </a:r>
            <a:endParaRPr lang="fi-FI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82588" y="5954288"/>
            <a:ext cx="4320000" cy="216000"/>
          </a:xfrm>
        </p:spPr>
        <p:txBody>
          <a:bodyPr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Speaker name, title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2C79CD-D5ED-4FD9-A14C-DE69E4B1E0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4639" y="5820402"/>
            <a:ext cx="2973984" cy="68400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D79896-60C4-4DCE-87A8-51F36B830207}"/>
              </a:ext>
            </a:extLst>
          </p:cNvPr>
          <p:cNvCxnSpPr>
            <a:cxnSpLocks/>
          </p:cNvCxnSpPr>
          <p:nvPr userDrawn="1"/>
        </p:nvCxnSpPr>
        <p:spPr>
          <a:xfrm>
            <a:off x="382588" y="2737763"/>
            <a:ext cx="1181807" cy="0"/>
          </a:xfrm>
          <a:prstGeom prst="line">
            <a:avLst/>
          </a:prstGeom>
          <a:ln w="76200" cap="rnd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82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14000" y="2886674"/>
            <a:ext cx="4716000" cy="1084653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139468" y="6476563"/>
            <a:ext cx="65888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chemeClr val="bg1"/>
                </a:solidFill>
              </a:rPr>
              <a:t>©2018 FIS and/or its subsidiaries. All Rights Reserved.</a:t>
            </a:r>
            <a:r>
              <a:rPr lang="en-US" sz="800" b="1" i="1" baseline="0" dirty="0">
                <a:solidFill>
                  <a:schemeClr val="bg1"/>
                </a:solidFill>
              </a:rPr>
              <a:t> </a:t>
            </a:r>
            <a:r>
              <a:rPr lang="en-US" sz="800" b="1" i="1" dirty="0">
                <a:solidFill>
                  <a:schemeClr val="bg1"/>
                </a:solidFill>
                <a:cs typeface="Arial"/>
              </a:rPr>
              <a:t>FIS confidential and proprietary information. </a:t>
            </a:r>
          </a:p>
        </p:txBody>
      </p:sp>
    </p:spTree>
    <p:extLst>
      <p:ext uri="{BB962C8B-B14F-4D97-AF65-F5344CB8AC3E}">
        <p14:creationId xmlns:p14="http://schemas.microsoft.com/office/powerpoint/2010/main" val="447301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divider ja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2588" y="550400"/>
            <a:ext cx="2880000" cy="910101"/>
          </a:xfrm>
        </p:spPr>
        <p:txBody>
          <a:bodyPr>
            <a:noAutofit/>
          </a:bodyPr>
          <a:lstStyle>
            <a:lvl1pPr>
              <a:defRPr sz="5000" baseline="0">
                <a:solidFill>
                  <a:schemeClr val="bg2"/>
                </a:solidFill>
              </a:defRPr>
            </a:lvl1pPr>
          </a:lstStyle>
          <a:p>
            <a:r>
              <a:rPr lang="fi-FI" dirty="0"/>
              <a:t>Section #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2588" y="1585384"/>
            <a:ext cx="2880000" cy="2976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 b="1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 dirty="0"/>
              <a:t>Type section title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383C63-5F1F-4BEF-8E0C-BDBA01177229}"/>
              </a:ext>
            </a:extLst>
          </p:cNvPr>
          <p:cNvCxnSpPr>
            <a:cxnSpLocks/>
          </p:cNvCxnSpPr>
          <p:nvPr userDrawn="1"/>
        </p:nvCxnSpPr>
        <p:spPr>
          <a:xfrm>
            <a:off x="382588" y="1294553"/>
            <a:ext cx="840284" cy="0"/>
          </a:xfrm>
          <a:prstGeom prst="line">
            <a:avLst/>
          </a:prstGeom>
          <a:ln w="76200" cap="rnd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837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06927" y="3783255"/>
            <a:ext cx="4876800" cy="120276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solidFill>
                  <a:schemeClr val="accent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</a:t>
            </a:r>
            <a:r>
              <a:rPr lang="en-US"/>
              <a:t>to Edit </a:t>
            </a:r>
            <a:r>
              <a:rPr lang="en-US" dirty="0"/>
              <a:t>Subtitle if Required</a:t>
            </a:r>
          </a:p>
        </p:txBody>
      </p:sp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1206927" y="2764254"/>
            <a:ext cx="4876800" cy="100884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>
                <a:solidFill>
                  <a:srgbClr val="222222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10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381000" y="195263"/>
            <a:ext cx="6096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1000" y="1733550"/>
            <a:ext cx="8305800" cy="443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39100" y="6477979"/>
            <a:ext cx="685800" cy="2286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6E6F70"/>
                </a:solidFill>
                <a:cs typeface="Arial" charset="0"/>
              </a:defRPr>
            </a:lvl1pPr>
          </a:lstStyle>
          <a:p>
            <a:pPr>
              <a:defRPr/>
            </a:pPr>
            <a:fld id="{97682614-2917-43EC-8DD5-4144BBD4E7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8" r:id="rId2"/>
    <p:sldLayoutId id="2147483681" r:id="rId3"/>
    <p:sldLayoutId id="2147483667" r:id="rId4"/>
    <p:sldLayoutId id="2147483684" r:id="rId5"/>
    <p:sldLayoutId id="2147483685" r:id="rId6"/>
    <p:sldLayoutId id="2147483688" r:id="rId7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Arial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rgbClr val="807F83"/>
          </a:solidFill>
          <a:latin typeface="Arial" charset="0"/>
          <a:cs typeface="Arial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rgbClr val="807F83"/>
          </a:solidFill>
          <a:latin typeface="Arial" charset="0"/>
          <a:cs typeface="Arial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rgbClr val="807F83"/>
          </a:solidFill>
          <a:latin typeface="Arial" charset="0"/>
          <a:cs typeface="Arial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rgbClr val="807F83"/>
          </a:solidFill>
          <a:latin typeface="Arial" charset="0"/>
          <a:cs typeface="Arial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73038" indent="-173038" algn="l" defTabSz="457200" rtl="0" eaLnBrk="1" fontAlgn="base" hangingPunct="1">
        <a:spcBef>
          <a:spcPct val="20000"/>
        </a:spcBef>
        <a:spcAft>
          <a:spcPct val="0"/>
        </a:spcAft>
        <a:buClr>
          <a:srgbClr val="4F6F19"/>
        </a:buClr>
        <a:buSzPct val="120000"/>
        <a:buFont typeface="Arial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1pPr>
      <a:lvl2pPr marL="400050" indent="-230188" algn="l" defTabSz="457200" rtl="0" eaLnBrk="1" fontAlgn="base" hangingPunct="1">
        <a:spcBef>
          <a:spcPct val="20000"/>
        </a:spcBef>
        <a:spcAft>
          <a:spcPct val="0"/>
        </a:spcAft>
        <a:buClr>
          <a:srgbClr val="8DC63F"/>
        </a:buClr>
        <a:buSzPct val="110000"/>
        <a:buFont typeface="Arial" charset="0"/>
        <a:buChar char="–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2pPr>
      <a:lvl3pPr marL="514350" indent="-117475" algn="l" defTabSz="457200" rtl="0" eaLnBrk="1" fontAlgn="base" hangingPunct="1">
        <a:spcBef>
          <a:spcPct val="20000"/>
        </a:spcBef>
        <a:spcAft>
          <a:spcPct val="0"/>
        </a:spcAft>
        <a:buClr>
          <a:srgbClr val="807F83"/>
        </a:buClr>
        <a:buFont typeface="Arial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3pPr>
      <a:lvl4pPr marL="682625" indent="-173038" algn="l" defTabSz="457200" rtl="0" eaLnBrk="1" fontAlgn="base" hangingPunct="1">
        <a:spcBef>
          <a:spcPct val="20000"/>
        </a:spcBef>
        <a:spcAft>
          <a:spcPct val="0"/>
        </a:spcAft>
        <a:buClr>
          <a:srgbClr val="A3CF63"/>
        </a:buClr>
        <a:buFont typeface="Arial" charset="0"/>
        <a:buChar char="–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4pPr>
      <a:lvl5pPr marL="803275" indent="-122238" algn="l" defTabSz="457200" rtl="0" eaLnBrk="1" fontAlgn="base" hangingPunct="1">
        <a:spcBef>
          <a:spcPct val="20000"/>
        </a:spcBef>
        <a:spcAft>
          <a:spcPct val="0"/>
        </a:spcAft>
        <a:buClr>
          <a:srgbClr val="B9DA89"/>
        </a:buClr>
        <a:buFont typeface="Arial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8039100" y="6224588"/>
            <a:ext cx="685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6E6F70"/>
                </a:solidFill>
                <a:cs typeface="Arial" charset="0"/>
              </a:defRPr>
            </a:lvl1pPr>
          </a:lstStyle>
          <a:p>
            <a:pPr>
              <a:defRPr/>
            </a:pPr>
            <a:fld id="{44D4A6B8-AE0A-4524-BFF2-B6D8AD8C81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173038" indent="-173038" algn="l" defTabSz="457200" rtl="0" eaLnBrk="0" fontAlgn="base" hangingPunct="0">
        <a:spcBef>
          <a:spcPct val="20000"/>
        </a:spcBef>
        <a:spcAft>
          <a:spcPct val="0"/>
        </a:spcAft>
        <a:buClr>
          <a:srgbClr val="3E5C10"/>
        </a:buClr>
        <a:buSzPct val="120000"/>
        <a:buFont typeface="Arial" charset="0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1pPr>
      <a:lvl2pPr marL="519113" indent="-122238" algn="l" defTabSz="457200" rtl="0" eaLnBrk="0" fontAlgn="base" hangingPunct="0">
        <a:spcBef>
          <a:spcPct val="20000"/>
        </a:spcBef>
        <a:spcAft>
          <a:spcPct val="0"/>
        </a:spcAft>
        <a:buClr>
          <a:srgbClr val="7ABB2B"/>
        </a:buClr>
        <a:buSzPct val="110000"/>
        <a:buFont typeface="Arial" charset="0"/>
        <a:buChar char="•"/>
        <a:defRPr sz="1200">
          <a:solidFill>
            <a:schemeClr val="tx2"/>
          </a:solidFill>
          <a:latin typeface="+mn-lt"/>
          <a:cs typeface="+mn-cs"/>
        </a:defRPr>
      </a:lvl2pPr>
      <a:lvl3pPr marL="742950" indent="-112713" algn="l" defTabSz="457200" rtl="0" eaLnBrk="0" fontAlgn="base" hangingPunct="0">
        <a:spcBef>
          <a:spcPct val="20000"/>
        </a:spcBef>
        <a:spcAft>
          <a:spcPct val="0"/>
        </a:spcAft>
        <a:buClr>
          <a:srgbClr val="6D6C70"/>
        </a:buClr>
        <a:buFont typeface="Arial" charset="0"/>
        <a:buChar char="•"/>
        <a:defRPr sz="1100">
          <a:solidFill>
            <a:schemeClr val="tx2"/>
          </a:solidFill>
          <a:latin typeface="+mn-lt"/>
          <a:cs typeface="+mn-cs"/>
        </a:defRPr>
      </a:lvl3pPr>
      <a:lvl4pPr marL="968375" indent="-112713" algn="l" defTabSz="457200" rtl="0" eaLnBrk="0" fontAlgn="base" hangingPunct="0">
        <a:spcBef>
          <a:spcPct val="20000"/>
        </a:spcBef>
        <a:spcAft>
          <a:spcPct val="0"/>
        </a:spcAft>
        <a:buClr>
          <a:srgbClr val="ABD274"/>
        </a:buClr>
        <a:buFont typeface="Arial" charset="0"/>
        <a:buChar char="•"/>
        <a:defRPr sz="1000">
          <a:solidFill>
            <a:schemeClr val="tx2"/>
          </a:solidFill>
          <a:latin typeface="+mn-lt"/>
          <a:cs typeface="+mn-cs"/>
        </a:defRPr>
      </a:lvl4pPr>
      <a:lvl5pPr marL="1262063" indent="-122238" algn="l" defTabSz="457200" rtl="0" eaLnBrk="0" fontAlgn="base" hangingPunct="0">
        <a:spcBef>
          <a:spcPct val="20000"/>
        </a:spcBef>
        <a:spcAft>
          <a:spcPct val="0"/>
        </a:spcAft>
        <a:buClr>
          <a:srgbClr val="C5E09D"/>
        </a:buClr>
        <a:buFont typeface="Arial" charset="0"/>
        <a:buChar char="•"/>
        <a:defRPr sz="1000">
          <a:solidFill>
            <a:schemeClr val="tx2"/>
          </a:solidFill>
          <a:latin typeface="+mn-lt"/>
          <a:cs typeface="+mn-cs"/>
        </a:defRPr>
      </a:lvl5pPr>
      <a:lvl6pPr marL="1719263" indent="-122238" algn="l" defTabSz="457200" rtl="0" fontAlgn="base">
        <a:spcBef>
          <a:spcPct val="20000"/>
        </a:spcBef>
        <a:spcAft>
          <a:spcPct val="0"/>
        </a:spcAft>
        <a:buClr>
          <a:srgbClr val="C5E09D"/>
        </a:buClr>
        <a:buFont typeface="Arial" charset="0"/>
        <a:buChar char="•"/>
        <a:defRPr sz="1000">
          <a:solidFill>
            <a:schemeClr val="tx2"/>
          </a:solidFill>
          <a:latin typeface="+mn-lt"/>
          <a:cs typeface="+mn-cs"/>
        </a:defRPr>
      </a:lvl6pPr>
      <a:lvl7pPr marL="2176463" indent="-122238" algn="l" defTabSz="457200" rtl="0" fontAlgn="base">
        <a:spcBef>
          <a:spcPct val="20000"/>
        </a:spcBef>
        <a:spcAft>
          <a:spcPct val="0"/>
        </a:spcAft>
        <a:buClr>
          <a:srgbClr val="C5E09D"/>
        </a:buClr>
        <a:buFont typeface="Arial" charset="0"/>
        <a:buChar char="•"/>
        <a:defRPr sz="1000">
          <a:solidFill>
            <a:schemeClr val="tx2"/>
          </a:solidFill>
          <a:latin typeface="+mn-lt"/>
          <a:cs typeface="+mn-cs"/>
        </a:defRPr>
      </a:lvl7pPr>
      <a:lvl8pPr marL="2633663" indent="-122238" algn="l" defTabSz="457200" rtl="0" fontAlgn="base">
        <a:spcBef>
          <a:spcPct val="20000"/>
        </a:spcBef>
        <a:spcAft>
          <a:spcPct val="0"/>
        </a:spcAft>
        <a:buClr>
          <a:srgbClr val="C5E09D"/>
        </a:buClr>
        <a:buFont typeface="Arial" charset="0"/>
        <a:buChar char="•"/>
        <a:defRPr sz="1000">
          <a:solidFill>
            <a:schemeClr val="tx2"/>
          </a:solidFill>
          <a:latin typeface="+mn-lt"/>
          <a:cs typeface="+mn-cs"/>
        </a:defRPr>
      </a:lvl8pPr>
      <a:lvl9pPr marL="3090863" indent="-122238" algn="l" defTabSz="457200" rtl="0" fontAlgn="base">
        <a:spcBef>
          <a:spcPct val="20000"/>
        </a:spcBef>
        <a:spcAft>
          <a:spcPct val="0"/>
        </a:spcAft>
        <a:buClr>
          <a:srgbClr val="C5E09D"/>
        </a:buClr>
        <a:buFont typeface="Arial" charset="0"/>
        <a:buChar char="•"/>
        <a:defRPr sz="1000">
          <a:solidFill>
            <a:schemeClr val="tx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7FD6-B87D-4759-866A-F02BE22E3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Calibri" panose="020F0502020204030204" pitchFamily="34" charset="0"/>
              </a:rPr>
              <a:t>Technical Training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C18EE-B803-4326-86A9-673D0E172D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2588" y="3007555"/>
            <a:ext cx="5435116" cy="1657209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</a:rPr>
              <a:t>Filer</a:t>
            </a:r>
          </a:p>
          <a:p>
            <a:r>
              <a:rPr lang="en-US" sz="3000" b="1" dirty="0">
                <a:solidFill>
                  <a:schemeClr val="tx1"/>
                </a:solidFill>
                <a:latin typeface="Calibri" panose="020F0502020204030204" pitchFamily="34" charset="0"/>
              </a:rPr>
              <a:t>M-Utility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C014A-F687-46A9-8CC6-0EA53F9756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75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0345-C6C7-40F3-897B-2D5D9571D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796" y="563653"/>
            <a:ext cx="3712334" cy="910101"/>
          </a:xfrm>
        </p:spPr>
        <p:txBody>
          <a:bodyPr/>
          <a:lstStyle/>
          <a:p>
            <a:r>
              <a:rPr lang="en-US" sz="2800" dirty="0">
                <a:solidFill>
                  <a:schemeClr val="accent2"/>
                </a:solidFill>
              </a:rPr>
              <a:t>Topics to be Covered</a:t>
            </a: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D8F8E3-69B3-4523-9E16-6F36A5760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588" y="1585384"/>
            <a:ext cx="4189412" cy="4682894"/>
          </a:xfrm>
        </p:spPr>
        <p:txBody>
          <a:bodyPr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b="0">
                <a:solidFill>
                  <a:schemeClr val="tx1"/>
                </a:solidFill>
              </a:rPr>
              <a:t>Trigger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25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FADD9C5-0866-41E5-8614-FB2D66817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What is a Filer?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6BA8982-3482-495F-A804-3B019A6480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33550"/>
            <a:ext cx="8305800" cy="2189093"/>
          </a:xfrm>
          <a:noFill/>
          <a:ln/>
        </p:spPr>
        <p:txBody>
          <a:bodyPr/>
          <a:lstStyle/>
          <a:p>
            <a:pPr algn="just">
              <a:spcBef>
                <a:spcPct val="50000"/>
              </a:spcBef>
            </a:pPr>
            <a:r>
              <a:rPr lang="en-US" altLang="en-US" sz="2000" dirty="0"/>
              <a:t>The term filer is a definition in DATA-QWIK that manages changes (insert, update, delete) to a table as well as integrity verification</a:t>
            </a:r>
          </a:p>
          <a:p>
            <a:pPr algn="just">
              <a:spcBef>
                <a:spcPct val="50000"/>
              </a:spcBef>
            </a:pPr>
            <a:r>
              <a:rPr lang="en-US" altLang="en-US" sz="2000" dirty="0"/>
              <a:t>Consists of stabilized data (rules) and procedural code to manage the table updates</a:t>
            </a:r>
          </a:p>
          <a:p>
            <a:pPr algn="just">
              <a:spcBef>
                <a:spcPct val="50000"/>
              </a:spcBef>
            </a:pPr>
            <a:r>
              <a:rPr lang="en-US" altLang="en-US" sz="2000" dirty="0"/>
              <a:t>Results in a compiled routine (or set of routines) enabling these rules for run-time execution</a:t>
            </a:r>
          </a:p>
        </p:txBody>
      </p:sp>
    </p:spTree>
    <p:extLst>
      <p:ext uri="{BB962C8B-B14F-4D97-AF65-F5344CB8AC3E}">
        <p14:creationId xmlns:p14="http://schemas.microsoft.com/office/powerpoint/2010/main" val="3530500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DC9618A-3186-4DBB-952F-D160A8E0E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/>
              <a:t>DATA-QWIK Filer Elements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D875384-41B1-4ACD-BF86-F28010D94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9052" y="1826316"/>
            <a:ext cx="8305800" cy="1751771"/>
          </a:xfrm>
          <a:noFill/>
          <a:ln/>
        </p:spPr>
        <p:txBody>
          <a:bodyPr/>
          <a:lstStyle/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2800" i="1" dirty="0"/>
              <a:t>Triggers Definitions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2800" i="1" dirty="0"/>
              <a:t>Journal Definitions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2800" i="1" dirty="0"/>
              <a:t>Foreign Key Definitions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2800" i="1" dirty="0"/>
              <a:t>Index Definitions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79920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6FC85CB5-A1FB-4A6C-973C-173C0EA688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Accessing Filer Definitions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1D15E1BB-C0D1-4E8A-B4D6-657D0E8E54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35985"/>
            <a:ext cx="8305800" cy="797615"/>
          </a:xfrm>
        </p:spPr>
        <p:txBody>
          <a:bodyPr/>
          <a:lstStyle/>
          <a:p>
            <a:r>
              <a:rPr lang="en-US" altLang="en-US" sz="2000" dirty="0"/>
              <a:t>Below is the filer definition screen:</a:t>
            </a:r>
          </a:p>
          <a:p>
            <a:r>
              <a:rPr lang="en-US" altLang="en-US" sz="2000" dirty="0"/>
              <a:t>Run function @805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CBFE7E-2E56-4EC3-A71B-543892B86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9" y="2133600"/>
            <a:ext cx="8458200" cy="40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008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DC9618A-3186-4DBB-952F-D160A8E0E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US" altLang="en-US" dirty="0"/>
              <a:t>Trigger Definition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D875384-41B1-4ACD-BF86-F28010D94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28754"/>
            <a:ext cx="8305800" cy="4438650"/>
          </a:xfrm>
          <a:noFill/>
          <a:ln/>
        </p:spPr>
        <p:txBody>
          <a:bodyPr/>
          <a:lstStyle/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200" dirty="0"/>
              <a:t>Triggers provide a means to define business rules within the database definition. 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200" dirty="0"/>
              <a:t>This ensures that the business rules are enforced for all updates of the database. 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200" dirty="0"/>
              <a:t>Triggers may be used to create default values, update other column values, perform edit checking, or cause actions to other tables. 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200" dirty="0"/>
              <a:t>In a client/server environment, business rules must be enforced using the triggers.</a:t>
            </a:r>
          </a:p>
          <a:p>
            <a:pPr marL="0" indent="0"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altLang="en-US" sz="2200" i="1" dirty="0"/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87285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6EAD6D19-9E83-4CA8-9FB9-8F077B870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Trigger Types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4B35E4B5-56AD-47A9-A748-DC9C504BCC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82976"/>
            <a:ext cx="8305800" cy="4438650"/>
          </a:xfrm>
        </p:spPr>
        <p:txBody>
          <a:bodyPr/>
          <a:lstStyle/>
          <a:p>
            <a:pPr marL="0" indent="0" algn="just">
              <a:lnSpc>
                <a:spcPct val="80000"/>
              </a:lnSpc>
              <a:buNone/>
            </a:pPr>
            <a:r>
              <a:rPr lang="en-US" altLang="en-US" sz="2000" dirty="0"/>
              <a:t>Business rules must be enforced using triggers.  In a client / server environment, Triggers are executed (or ‘fired’) as a result of specific actions or events associated with a table.  Six Trigger types are supported.</a:t>
            </a:r>
          </a:p>
          <a:p>
            <a:pPr marL="0" indent="0" algn="just">
              <a:lnSpc>
                <a:spcPct val="80000"/>
              </a:lnSpc>
              <a:buNone/>
            </a:pPr>
            <a:endParaRPr lang="en-US" altLang="en-US" sz="2000" i="1" dirty="0"/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i="1" dirty="0"/>
              <a:t>Before Insert</a:t>
            </a:r>
            <a:r>
              <a:rPr lang="en-US" altLang="en-US" sz="2000" dirty="0"/>
              <a:t> - Occurs before the database is updated when inserting a new row.</a:t>
            </a:r>
            <a:endParaRPr lang="en-US" altLang="en-US" sz="2000" i="1" dirty="0"/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i="1" dirty="0"/>
              <a:t>After Insert</a:t>
            </a:r>
            <a:r>
              <a:rPr lang="en-US" altLang="en-US" sz="2000" dirty="0"/>
              <a:t> - Occurs after the database is updated when inserting a new row.</a:t>
            </a:r>
            <a:endParaRPr lang="en-US" altLang="en-US" sz="2000" i="1" dirty="0"/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i="1" dirty="0"/>
              <a:t>Before Update</a:t>
            </a:r>
            <a:r>
              <a:rPr lang="en-US" altLang="en-US" sz="2000" dirty="0"/>
              <a:t> - Occurs before the database is physically updated when performing an update and may be limited to changes to specific columns.</a:t>
            </a:r>
            <a:endParaRPr lang="en-US" altLang="en-US" sz="2000" i="1" dirty="0"/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i="1" dirty="0"/>
              <a:t>After Update</a:t>
            </a:r>
            <a:r>
              <a:rPr lang="en-US" altLang="en-US" sz="2000" dirty="0"/>
              <a:t> - Occurs after the database is physically updated when performing an update and may be limited to changes to specific columns.</a:t>
            </a:r>
            <a:endParaRPr lang="en-US" altLang="en-US" sz="2000" i="1" dirty="0"/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i="1" dirty="0"/>
              <a:t>Before Delete</a:t>
            </a:r>
            <a:r>
              <a:rPr lang="en-US" altLang="en-US" sz="2000" dirty="0"/>
              <a:t> - Occurs before the database is updated when deleting a row.</a:t>
            </a:r>
            <a:endParaRPr lang="en-US" altLang="en-US" sz="2000" i="1" dirty="0"/>
          </a:p>
          <a:p>
            <a:pPr algn="just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i="1" dirty="0"/>
              <a:t>After Delete</a:t>
            </a:r>
            <a:r>
              <a:rPr lang="en-US" altLang="en-US" sz="2000" dirty="0"/>
              <a:t> - Occurs after the database is updated when deleting a row. </a:t>
            </a:r>
          </a:p>
        </p:txBody>
      </p:sp>
    </p:spTree>
    <p:extLst>
      <p:ext uri="{BB962C8B-B14F-4D97-AF65-F5344CB8AC3E}">
        <p14:creationId xmlns:p14="http://schemas.microsoft.com/office/powerpoint/2010/main" val="2796267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0CBAE256-58B5-4270-8F1D-0223CD3564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Before Insert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B3441AB7-EA6E-4ADB-8BCD-5AA020D4D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15497"/>
            <a:ext cx="8305800" cy="258666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A </a:t>
            </a:r>
            <a:r>
              <a:rPr lang="en-US" altLang="en-US" sz="2000" i="1" dirty="0"/>
              <a:t>Before Insert</a:t>
            </a:r>
            <a:r>
              <a:rPr lang="en-US" altLang="en-US" sz="2000" dirty="0"/>
              <a:t> trigger is executed upon the insert of a new row into a table, before the database is physically updated. 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Generally, this type of Trigger is used to default values into columns where no value is provided  or to perform editing checking for columns that are required before further processing.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Note: Only one </a:t>
            </a:r>
            <a:r>
              <a:rPr lang="en-US" altLang="en-US" sz="2000" i="1" dirty="0"/>
              <a:t>Before Insert</a:t>
            </a:r>
            <a:r>
              <a:rPr lang="en-US" altLang="en-US" sz="2000" dirty="0"/>
              <a:t> trigger is allowed for a table. </a:t>
            </a:r>
          </a:p>
        </p:txBody>
      </p:sp>
    </p:spTree>
    <p:extLst>
      <p:ext uri="{BB962C8B-B14F-4D97-AF65-F5344CB8AC3E}">
        <p14:creationId xmlns:p14="http://schemas.microsoft.com/office/powerpoint/2010/main" val="3677830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D0B84A87-216A-4202-8FAD-C30377B2C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After Insert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6E3AD302-7565-402E-9176-C6B2641EE8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03463"/>
            <a:ext cx="8305800" cy="4438650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The A</a:t>
            </a:r>
            <a:r>
              <a:rPr lang="en-US" altLang="en-US" sz="2000" i="1" dirty="0"/>
              <a:t>fter Insert</a:t>
            </a:r>
            <a:r>
              <a:rPr lang="en-US" altLang="en-US" sz="2000" dirty="0"/>
              <a:t> trigger is primarily responsible for providing validation of all the business rules associated with a row in a table.  An </a:t>
            </a:r>
            <a:r>
              <a:rPr lang="en-US" altLang="en-US" sz="2000" i="1" dirty="0"/>
              <a:t>After Insert</a:t>
            </a:r>
            <a:r>
              <a:rPr lang="en-US" altLang="en-US" sz="2000" dirty="0"/>
              <a:t> trigger has two roles:</a:t>
            </a:r>
          </a:p>
          <a:p>
            <a:pPr lvl="1"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It is executed upon insert of a new row into a table, after the database has been physically updated (a Transaction Processing rollback will occur in the event of a failure during the </a:t>
            </a:r>
            <a:r>
              <a:rPr lang="en-US" altLang="en-US" sz="2000" i="1" dirty="0"/>
              <a:t>After Insert</a:t>
            </a:r>
            <a:r>
              <a:rPr lang="en-US" altLang="en-US" sz="2000" dirty="0"/>
              <a:t> trigger).</a:t>
            </a:r>
          </a:p>
          <a:p>
            <a:pPr lvl="1"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It is also executed to provide integrity checking for a table.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If a certain relationship must exist between columns, the </a:t>
            </a:r>
            <a:r>
              <a:rPr lang="en-US" altLang="en-US" sz="2000" i="1" dirty="0"/>
              <a:t>After Insert</a:t>
            </a:r>
            <a:r>
              <a:rPr lang="en-US" altLang="en-US" sz="2000" dirty="0"/>
              <a:t> trigger would verify the relationship.  </a:t>
            </a:r>
            <a:r>
              <a:rPr lang="en-US" altLang="en-US" sz="2000" i="1" dirty="0"/>
              <a:t>After Insert</a:t>
            </a:r>
            <a:r>
              <a:rPr lang="en-US" altLang="en-US" sz="2000" dirty="0"/>
              <a:t> Triggers are also used to manipulate related tables.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Only a single </a:t>
            </a:r>
            <a:r>
              <a:rPr lang="en-US" altLang="en-US" sz="2000" i="1" dirty="0"/>
              <a:t>After Insert</a:t>
            </a:r>
            <a:r>
              <a:rPr lang="en-US" altLang="en-US" sz="2000" dirty="0"/>
              <a:t> trigger is allowed for a table</a:t>
            </a:r>
          </a:p>
          <a:p>
            <a:pPr marL="169862" lvl="1" indent="0" algn="just">
              <a:lnSpc>
                <a:spcPct val="90000"/>
              </a:lnSpc>
              <a:buNone/>
            </a:pPr>
            <a:r>
              <a:rPr lang="en-US" altLang="en-US" sz="2000" b="1" dirty="0"/>
              <a:t>Example:</a:t>
            </a:r>
            <a:endParaRPr lang="en-US" altLang="en-US" sz="2000" dirty="0"/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/>
              <a:t>When inserting a new LN row, a row must also be inserted into LNBIL0.  This can be managed by the LN </a:t>
            </a:r>
            <a:r>
              <a:rPr lang="en-US" altLang="en-US" sz="2000" i="1" dirty="0"/>
              <a:t>After Insert</a:t>
            </a:r>
            <a:r>
              <a:rPr lang="en-US" altLang="en-US" sz="2000" dirty="0"/>
              <a:t> trigger which enables DATA-QWIK to manage this type of related update. </a:t>
            </a:r>
          </a:p>
        </p:txBody>
      </p:sp>
    </p:spTree>
    <p:extLst>
      <p:ext uri="{BB962C8B-B14F-4D97-AF65-F5344CB8AC3E}">
        <p14:creationId xmlns:p14="http://schemas.microsoft.com/office/powerpoint/2010/main" val="4113191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B3465BBC-F3C2-430E-B597-B622F34C30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Before Update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A4538FDF-A7B7-4DC1-8F19-73326DC1A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56472"/>
            <a:ext cx="8305800" cy="443865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i="1" dirty="0"/>
              <a:t>Before Update</a:t>
            </a:r>
            <a:r>
              <a:rPr lang="en-US" altLang="en-US" sz="2000" dirty="0"/>
              <a:t> triggers may be specified to be executed associated with one or more columns.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 The Trigger will then execute only when an update to a column in the list is performed. 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The Trigger executes on update of the specified column (or columns) before the database is physically updated.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Multiple </a:t>
            </a:r>
            <a:r>
              <a:rPr lang="en-US" altLang="en-US" sz="2000" i="1" dirty="0"/>
              <a:t>Before Update</a:t>
            </a:r>
            <a:r>
              <a:rPr lang="en-US" altLang="en-US" sz="2000" dirty="0"/>
              <a:t> triggers may be defined for a table.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The order in which </a:t>
            </a:r>
            <a:r>
              <a:rPr lang="en-US" altLang="en-US" sz="2000" i="1" dirty="0"/>
              <a:t>Before Update</a:t>
            </a:r>
            <a:r>
              <a:rPr lang="en-US" altLang="en-US" sz="2000" dirty="0"/>
              <a:t> triggers will execute is not predictable or guaranteed.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Coding should never assume knowledge of the order of execution.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343889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0397F042-5BD3-4FE4-9EEE-B1C5CFAD7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After Update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490E918D-39B6-4855-9DA2-3D5778D868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03463"/>
            <a:ext cx="8305800" cy="443865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i="1" dirty="0"/>
              <a:t>After Update</a:t>
            </a:r>
            <a:r>
              <a:rPr lang="en-US" altLang="en-US" sz="2000" dirty="0"/>
              <a:t> triggers may be executed in association with one or more columns. 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The Trigger will then execute only if an update to a column in the list is performed. 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The Trigger executes on the update of the specified column(s) after the database is physically updated (with a Transaction Processing rollback occurring in the event of a failure). </a:t>
            </a:r>
            <a:endParaRPr lang="en-US" altLang="en-US" sz="2000" i="1" dirty="0"/>
          </a:p>
          <a:p>
            <a:pPr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Multiple </a:t>
            </a:r>
            <a:r>
              <a:rPr lang="en-US" altLang="en-US" sz="2000" i="1" dirty="0"/>
              <a:t>After Update</a:t>
            </a:r>
            <a:r>
              <a:rPr lang="en-US" altLang="en-US" sz="2000" dirty="0"/>
              <a:t> triggers may be defined for a table.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The order in which </a:t>
            </a:r>
            <a:r>
              <a:rPr lang="en-US" altLang="en-US" sz="2000" i="1" dirty="0"/>
              <a:t>After Update</a:t>
            </a:r>
            <a:r>
              <a:rPr lang="en-US" altLang="en-US" sz="2000" dirty="0"/>
              <a:t> triggers will execute is not predictable or guaranteed.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/>
              <a:t>Coding should never assume knowledge of the order of execution.</a:t>
            </a:r>
          </a:p>
        </p:txBody>
      </p:sp>
    </p:spTree>
    <p:extLst>
      <p:ext uri="{BB962C8B-B14F-4D97-AF65-F5344CB8AC3E}">
        <p14:creationId xmlns:p14="http://schemas.microsoft.com/office/powerpoint/2010/main" val="1549742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870A4BA4-3A64-48EA-8C59-AE294EE48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Before Delete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E7E1C7D7-2447-41CD-A0B0-69A2697E52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altLang="en-US" sz="2000" i="1" dirty="0"/>
              <a:t>Before Delete</a:t>
            </a:r>
            <a:r>
              <a:rPr lang="en-US" altLang="en-US" sz="2000" dirty="0"/>
              <a:t> triggers are executed before a row is physically deleted from a table.  </a:t>
            </a:r>
          </a:p>
          <a:p>
            <a:pPr algn="just"/>
            <a:endParaRPr lang="en-US" altLang="en-US" sz="2000" i="1" dirty="0"/>
          </a:p>
          <a:p>
            <a:pPr algn="just"/>
            <a:r>
              <a:rPr lang="en-US" altLang="en-US" sz="2000" i="1" dirty="0"/>
              <a:t>Before Delete</a:t>
            </a:r>
            <a:r>
              <a:rPr lang="en-US" altLang="en-US" sz="2000" dirty="0"/>
              <a:t> triggers may check various conditions to ensure that it is allowable to delete a row before allowing processing to proceed.</a:t>
            </a:r>
          </a:p>
          <a:p>
            <a:pPr algn="just"/>
            <a:endParaRPr lang="en-US" altLang="en-US" sz="2000" b="1" dirty="0"/>
          </a:p>
          <a:p>
            <a:pPr algn="just"/>
            <a:r>
              <a:rPr lang="en-US" altLang="en-US" sz="2000" b="1" dirty="0"/>
              <a:t>Note:</a:t>
            </a:r>
            <a:r>
              <a:rPr lang="en-US" altLang="en-US" sz="2000" dirty="0"/>
              <a:t>  Only one </a:t>
            </a:r>
            <a:r>
              <a:rPr lang="en-US" altLang="en-US" sz="2000" i="1" dirty="0"/>
              <a:t>Before Delete</a:t>
            </a:r>
            <a:r>
              <a:rPr lang="en-US" altLang="en-US" sz="2000" dirty="0"/>
              <a:t> trigger is allowed for a table. </a:t>
            </a:r>
          </a:p>
        </p:txBody>
      </p:sp>
    </p:spTree>
    <p:extLst>
      <p:ext uri="{BB962C8B-B14F-4D97-AF65-F5344CB8AC3E}">
        <p14:creationId xmlns:p14="http://schemas.microsoft.com/office/powerpoint/2010/main" val="2018501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F9BE929D-02D1-4625-8C23-D7F8D006C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After Delete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E38574FA-3127-47EA-A62F-6FFB0408C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733550"/>
            <a:ext cx="8305800" cy="3381789"/>
          </a:xfrm>
        </p:spPr>
        <p:txBody>
          <a:bodyPr/>
          <a:lstStyle/>
          <a:p>
            <a:pPr algn="just"/>
            <a:r>
              <a:rPr lang="en-US" altLang="en-US" sz="2000" i="1" dirty="0"/>
              <a:t>After Delete</a:t>
            </a:r>
            <a:r>
              <a:rPr lang="en-US" altLang="en-US" sz="2000" dirty="0"/>
              <a:t> triggers are executed after a row is physically deleted from a table.  </a:t>
            </a:r>
          </a:p>
          <a:p>
            <a:pPr algn="just"/>
            <a:endParaRPr lang="en-US" altLang="en-US" sz="2000" i="1" dirty="0"/>
          </a:p>
          <a:p>
            <a:pPr algn="just"/>
            <a:r>
              <a:rPr lang="en-US" altLang="en-US" sz="2000" i="1" dirty="0"/>
              <a:t>After Delete</a:t>
            </a:r>
            <a:r>
              <a:rPr lang="en-US" altLang="en-US" sz="2000" dirty="0"/>
              <a:t> triggers can be used to manipulate information in other tables related to the deletion.</a:t>
            </a:r>
          </a:p>
          <a:p>
            <a:pPr lvl="1" algn="just"/>
            <a:r>
              <a:rPr lang="en-US" altLang="en-US" sz="2000" dirty="0"/>
              <a:t>Example: After a delete has been performed, log an entry into a ‘Log’ table for Auditing purposes.</a:t>
            </a:r>
          </a:p>
          <a:p>
            <a:pPr algn="just"/>
            <a:endParaRPr lang="en-US" altLang="en-US" sz="2000" b="1" dirty="0"/>
          </a:p>
          <a:p>
            <a:pPr algn="just"/>
            <a:r>
              <a:rPr lang="en-US" altLang="en-US" sz="2000" b="1" dirty="0"/>
              <a:t>Note:</a:t>
            </a:r>
            <a:r>
              <a:rPr lang="en-US" altLang="en-US" sz="2000" dirty="0"/>
              <a:t>  Only one </a:t>
            </a:r>
            <a:r>
              <a:rPr lang="en-US" altLang="en-US" sz="2000" i="1" dirty="0"/>
              <a:t>After Delete</a:t>
            </a:r>
            <a:r>
              <a:rPr lang="en-US" altLang="en-US" sz="2000" dirty="0"/>
              <a:t> trigger is allowed for a table. </a:t>
            </a:r>
          </a:p>
        </p:txBody>
      </p:sp>
    </p:spTree>
    <p:extLst>
      <p:ext uri="{BB962C8B-B14F-4D97-AF65-F5344CB8AC3E}">
        <p14:creationId xmlns:p14="http://schemas.microsoft.com/office/powerpoint/2010/main" val="117197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08CECA0D-5925-412A-B59C-C9C4928B0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Accessing Triggers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85AD326C-3CB5-4A16-83E6-758FD555C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i="1"/>
              <a:t>Batch </a:t>
            </a:r>
            <a:r>
              <a:rPr lang="en-US" altLang="en-US" sz="2000" i="1" dirty="0"/>
              <a:t>definition access: run a function @807</a:t>
            </a:r>
            <a:endParaRPr lang="en-US" alt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42721-3FBB-4E36-A5E1-0289D2F1F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2324100"/>
            <a:ext cx="85439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836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08CECA0D-5925-412A-B59C-C9C4928B02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Accessing Triggers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85AD326C-3CB5-4A16-83E6-758FD555C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2000" dirty="0"/>
              <a:t>The following table shows the Trigger Definition maintenance functions by function ID (these may be entered from any menu)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Compiling the trigger, use Build Run-Time Filer Routine function: @DBSFILB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3BC99E-1580-43FB-ADEE-67FEE9932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813776"/>
              </p:ext>
            </p:extLst>
          </p:nvPr>
        </p:nvGraphicFramePr>
        <p:xfrm>
          <a:off x="1398104" y="2657722"/>
          <a:ext cx="5078896" cy="1947504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3470579">
                  <a:extLst>
                    <a:ext uri="{9D8B030D-6E8A-4147-A177-3AD203B41FA5}">
                      <a16:colId xmlns:a16="http://schemas.microsoft.com/office/drawing/2014/main" val="2259758353"/>
                    </a:ext>
                  </a:extLst>
                </a:gridCol>
                <a:gridCol w="1608317">
                  <a:extLst>
                    <a:ext uri="{9D8B030D-6E8A-4147-A177-3AD203B41FA5}">
                      <a16:colId xmlns:a16="http://schemas.microsoft.com/office/drawing/2014/main" val="2463362850"/>
                    </a:ext>
                  </a:extLst>
                </a:gridCol>
              </a:tblGrid>
              <a:tr h="324584"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Description</a:t>
                      </a:r>
                      <a:endParaRPr lang="en-IN" sz="1800" kern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200">
                          <a:effectLst/>
                        </a:rPr>
                        <a:t>Function ID</a:t>
                      </a:r>
                      <a:endParaRPr lang="en-IN" sz="1800" kern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80235650"/>
                  </a:ext>
                </a:extLst>
              </a:tr>
              <a:tr h="324584"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Create Trigger Definition</a:t>
                      </a:r>
                      <a:endParaRPr lang="en-IN" sz="1800" kern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200">
                          <a:effectLst/>
                        </a:rPr>
                        <a:t>DBSDFL</a:t>
                      </a:r>
                      <a:endParaRPr lang="en-IN" sz="1800" kern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5235158"/>
                  </a:ext>
                </a:extLst>
              </a:tr>
              <a:tr h="324584"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Modify Trigger Definition</a:t>
                      </a:r>
                      <a:endParaRPr lang="en-IN" sz="1800" kern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200">
                          <a:effectLst/>
                        </a:rPr>
                        <a:t>DBSDFCO</a:t>
                      </a:r>
                      <a:endParaRPr lang="en-IN" sz="1800" kern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2873570"/>
                  </a:ext>
                </a:extLst>
              </a:tr>
              <a:tr h="324584"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List Trigger Definition</a:t>
                      </a:r>
                      <a:endParaRPr lang="en-IN" sz="1800" kern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200">
                          <a:effectLst/>
                        </a:rPr>
                        <a:t>DBSDFD</a:t>
                      </a:r>
                      <a:endParaRPr lang="en-IN" sz="1800" kern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7740488"/>
                  </a:ext>
                </a:extLst>
              </a:tr>
              <a:tr h="324584"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Delete Trigger Definition</a:t>
                      </a:r>
                      <a:endParaRPr lang="en-IN" sz="1800" kern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800" kern="1200" dirty="0">
                          <a:effectLst/>
                        </a:rPr>
                        <a:t>DBSDF9</a:t>
                      </a:r>
                      <a:endParaRPr lang="en-IN" sz="1800" kern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7236787"/>
                  </a:ext>
                </a:extLst>
              </a:tr>
              <a:tr h="324584"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en-US" sz="1800" dirty="0"/>
                        <a:t>Build Run-Time Filer Routine</a:t>
                      </a:r>
                      <a:endParaRPr lang="en-IN" sz="1800" kern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hangingPunct="0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altLang="en-US" sz="1800" dirty="0"/>
                        <a:t>DBSFILB</a:t>
                      </a:r>
                      <a:endParaRPr lang="en-IN" sz="1800" kern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375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4560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9C6D5B2-A26B-4814-B623-B3A39D3958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Trigger Control Page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BFEBEFDE-76A9-402A-9B74-A150536344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059967"/>
            <a:ext cx="8305800" cy="4438650"/>
          </a:xfrm>
        </p:spPr>
        <p:txBody>
          <a:bodyPr/>
          <a:lstStyle/>
          <a:p>
            <a:r>
              <a:rPr lang="en-US" altLang="en-US" dirty="0"/>
              <a:t>Example Trigger definition control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E879C1-0DAB-42DC-89A6-6455CCB93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60" y="1417361"/>
            <a:ext cx="7802840" cy="494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20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305715E3-3352-4804-9B8D-85E8A85A7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Trigger Control Page items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8EBDF90E-7F92-43AF-BE4E-19258F3840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6774" y="1335985"/>
            <a:ext cx="8305800" cy="443865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/>
              <a:t>The following are descriptions of the fields located on this screen: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000" i="1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i="1" dirty="0"/>
              <a:t>Table Name</a:t>
            </a:r>
            <a:r>
              <a:rPr lang="en-US" altLang="en-US" sz="2000" dirty="0"/>
              <a:t> - Displays the table name the trigger is associated with.</a:t>
            </a:r>
            <a:endParaRPr lang="en-US" altLang="en-US" sz="2000" i="1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i="1" dirty="0"/>
              <a:t>Trigger Name</a:t>
            </a:r>
            <a:r>
              <a:rPr lang="en-US" altLang="en-US" sz="2000" i="1" dirty="0"/>
              <a:t> </a:t>
            </a:r>
            <a:r>
              <a:rPr lang="en-US" altLang="en-US" sz="2000" dirty="0"/>
              <a:t>- Displays the name of the Trigger.</a:t>
            </a:r>
            <a:endParaRPr lang="en-US" altLang="en-US" sz="2000" i="1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i="1" dirty="0"/>
              <a:t>Description</a:t>
            </a:r>
            <a:r>
              <a:rPr lang="en-US" altLang="en-US" sz="2000" dirty="0"/>
              <a:t> - A freeform text description of the action the Trigger will perform.</a:t>
            </a:r>
            <a:endParaRPr lang="en-US" altLang="en-US" sz="2000" i="1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i="1" dirty="0"/>
              <a:t>Trigger Actions</a:t>
            </a:r>
            <a:r>
              <a:rPr lang="en-US" altLang="en-US" sz="2000" dirty="0"/>
              <a:t> - Displays the actions this Trigger will be performing.</a:t>
            </a:r>
            <a:endParaRPr lang="en-US" altLang="en-US" sz="2000" i="1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b="1" i="1" dirty="0"/>
              <a:t>List of column names</a:t>
            </a:r>
            <a:r>
              <a:rPr lang="en-US" altLang="en-US" sz="2000" dirty="0"/>
              <a:t> - Displays the columns that will be updated. </a:t>
            </a: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en-US" sz="2000" dirty="0"/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en-US" sz="2000" dirty="0">
                <a:highlight>
                  <a:srgbClr val="FFFF00"/>
                </a:highlight>
              </a:rPr>
              <a:t>Note: we can use </a:t>
            </a:r>
            <a:r>
              <a:rPr lang="en-US" altLang="en-US" sz="2000" b="1" i="1" dirty="0">
                <a:highlight>
                  <a:srgbClr val="FFFF00"/>
                </a:highlight>
              </a:rPr>
              <a:t>this </a:t>
            </a:r>
            <a:r>
              <a:rPr lang="en-US" altLang="en-US" sz="2000" dirty="0">
                <a:highlight>
                  <a:srgbClr val="FFFF00"/>
                </a:highlight>
              </a:rPr>
              <a:t>keyword to represent table object.</a:t>
            </a:r>
            <a:endParaRPr lang="en-US" altLang="en-US" sz="2000" b="1" i="1" dirty="0">
              <a:highlight>
                <a:srgbClr val="FFFF00"/>
              </a:highlight>
            </a:endParaRPr>
          </a:p>
          <a:p>
            <a:pPr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930508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719729"/>
      </p:ext>
    </p:extLst>
  </p:cSld>
  <p:clrMapOvr>
    <a:masterClrMapping/>
  </p:clrMapOvr>
</p:sld>
</file>

<file path=ppt/theme/theme1.xml><?xml version="1.0" encoding="utf-8"?>
<a:theme xmlns:a="http://schemas.openxmlformats.org/drawingml/2006/main" name="FIS Corporate Presentation Template 1">
  <a:themeElements>
    <a:clrScheme name="FIS Approved Full Color">
      <a:dk1>
        <a:sysClr val="windowText" lastClr="000000"/>
      </a:dk1>
      <a:lt1>
        <a:sysClr val="window" lastClr="FFFFFF"/>
      </a:lt1>
      <a:dk2>
        <a:srgbClr val="4F6F19"/>
      </a:dk2>
      <a:lt2>
        <a:srgbClr val="EEECE1"/>
      </a:lt2>
      <a:accent1>
        <a:srgbClr val="4F6F19"/>
      </a:accent1>
      <a:accent2>
        <a:srgbClr val="8DC63F"/>
      </a:accent2>
      <a:accent3>
        <a:srgbClr val="807F83"/>
      </a:accent3>
      <a:accent4>
        <a:srgbClr val="642566"/>
      </a:accent4>
      <a:accent5>
        <a:srgbClr val="41C4DC"/>
      </a:accent5>
      <a:accent6>
        <a:srgbClr val="FFC82E"/>
      </a:accent6>
      <a:hlink>
        <a:srgbClr val="41C4DC"/>
      </a:hlink>
      <a:folHlink>
        <a:srgbClr val="E282D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400" dirty="0" smtClean="0">
            <a:latin typeface="Arial"/>
            <a:cs typeface="Arial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1_Office Theme 1">
      <a:dk1>
        <a:srgbClr val="262626"/>
      </a:dk1>
      <a:lt1>
        <a:srgbClr val="FFFFFF"/>
      </a:lt1>
      <a:dk2>
        <a:srgbClr val="6E6F70"/>
      </a:dk2>
      <a:lt2>
        <a:srgbClr val="EEECE1"/>
      </a:lt2>
      <a:accent1>
        <a:srgbClr val="3F5D12"/>
      </a:accent1>
      <a:accent2>
        <a:srgbClr val="7BBE30"/>
      </a:accent2>
      <a:accent3>
        <a:srgbClr val="FFFFFF"/>
      </a:accent3>
      <a:accent4>
        <a:srgbClr val="1F1F1F"/>
      </a:accent4>
      <a:accent5>
        <a:srgbClr val="AFB6AA"/>
      </a:accent5>
      <a:accent6>
        <a:srgbClr val="6FAC2A"/>
      </a:accent6>
      <a:hlink>
        <a:srgbClr val="6D6E72"/>
      </a:hlink>
      <a:folHlink>
        <a:srgbClr val="ADADAD"/>
      </a:folHlink>
    </a:clrScheme>
    <a:fontScheme name="1_Office Them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Office Theme 1">
        <a:dk1>
          <a:srgbClr val="262626"/>
        </a:dk1>
        <a:lt1>
          <a:srgbClr val="FFFFFF"/>
        </a:lt1>
        <a:dk2>
          <a:srgbClr val="6E6F70"/>
        </a:dk2>
        <a:lt2>
          <a:srgbClr val="EEECE1"/>
        </a:lt2>
        <a:accent1>
          <a:srgbClr val="3F5D12"/>
        </a:accent1>
        <a:accent2>
          <a:srgbClr val="7BBE30"/>
        </a:accent2>
        <a:accent3>
          <a:srgbClr val="FFFFFF"/>
        </a:accent3>
        <a:accent4>
          <a:srgbClr val="1F1F1F"/>
        </a:accent4>
        <a:accent5>
          <a:srgbClr val="AFB6AA"/>
        </a:accent5>
        <a:accent6>
          <a:srgbClr val="6FAC2A"/>
        </a:accent6>
        <a:hlink>
          <a:srgbClr val="6D6E72"/>
        </a:hlink>
        <a:folHlink>
          <a:srgbClr val="ADADA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EDB483FAE5E5418ABA249F5FD92D35" ma:contentTypeVersion="1" ma:contentTypeDescription="Create a new document." ma:contentTypeScope="" ma:versionID="c0e252ae6bbe2742559b30ce941c5471">
  <xsd:schema xmlns:xsd="http://www.w3.org/2001/XMLSchema" xmlns:xs="http://www.w3.org/2001/XMLSchema" xmlns:p="http://schemas.microsoft.com/office/2006/metadata/properties" xmlns:ns2="http://schemas.microsoft.com/sharepoint/v4" targetNamespace="http://schemas.microsoft.com/office/2006/metadata/properties" ma:root="true" ma:fieldsID="c79c8594d4fa4c9fd200c91a62336472" ns2:_=""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8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56595686-D28F-4EB7-98D2-93BC84B54B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1AC913-F8D0-4FB4-92D1-D4B2C0F03F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26B81F-E82C-4BB0-9DE0-EF106BA375B2}">
  <ds:schemaRefs>
    <ds:schemaRef ds:uri="http://schemas.microsoft.com/office/2006/metadata/properties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FIS Corporate Presentation Template 1</Template>
  <TotalTime>8695</TotalTime>
  <Words>1042</Words>
  <Application>Microsoft Office PowerPoint</Application>
  <PresentationFormat>On-screen Show (4:3)</PresentationFormat>
  <Paragraphs>106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FIS Corporate Presentation Template 1</vt:lpstr>
      <vt:lpstr>1_Office Theme</vt:lpstr>
      <vt:lpstr>Technical Training</vt:lpstr>
      <vt:lpstr>Topics to be Covered</vt:lpstr>
      <vt:lpstr>What is a Filer?</vt:lpstr>
      <vt:lpstr>DATA-QWIK Filer Elements</vt:lpstr>
      <vt:lpstr>Accessing Filer Definitions</vt:lpstr>
      <vt:lpstr>Trigger Definition</vt:lpstr>
      <vt:lpstr>Trigger Types</vt:lpstr>
      <vt:lpstr>Before Insert</vt:lpstr>
      <vt:lpstr>After Insert</vt:lpstr>
      <vt:lpstr>Before Update</vt:lpstr>
      <vt:lpstr>After Update</vt:lpstr>
      <vt:lpstr>Before Delete</vt:lpstr>
      <vt:lpstr>After Delete</vt:lpstr>
      <vt:lpstr>Accessing Triggers</vt:lpstr>
      <vt:lpstr>Accessing Triggers</vt:lpstr>
      <vt:lpstr>Trigger Control Page</vt:lpstr>
      <vt:lpstr>Trigger Control Page items</vt:lpstr>
      <vt:lpstr>PowerPoint Presentation</vt:lpstr>
    </vt:vector>
  </TitlesOfParts>
  <Company>Fidelity National Information Services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Dayend Processing</dc:title>
  <dc:creator>Lutz, Richard</dc:creator>
  <cp:lastModifiedBy>P, Somu Karthik</cp:lastModifiedBy>
  <cp:revision>468</cp:revision>
  <dcterms:created xsi:type="dcterms:W3CDTF">2010-02-17T19:37:21Z</dcterms:created>
  <dcterms:modified xsi:type="dcterms:W3CDTF">2022-02-22T09:00:56Z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0x010100EEEDB483FAE5E5418ABA249F5FD92D35</vt:lpwstr>
  </property>
</Properties>
</file>