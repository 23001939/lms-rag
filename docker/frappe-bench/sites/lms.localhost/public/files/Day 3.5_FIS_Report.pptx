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Lst>
  <p:notesMasterIdLst>
    <p:notesMasterId r:id="rId42"/>
  </p:notesMasterIdLst>
  <p:sldIdLst>
    <p:sldId id="294" r:id="rId6"/>
    <p:sldId id="296" r:id="rId7"/>
    <p:sldId id="297" r:id="rId8"/>
    <p:sldId id="352" r:id="rId9"/>
    <p:sldId id="353" r:id="rId10"/>
    <p:sldId id="298" r:id="rId11"/>
    <p:sldId id="299" r:id="rId12"/>
    <p:sldId id="300" r:id="rId13"/>
    <p:sldId id="301" r:id="rId14"/>
    <p:sldId id="303" r:id="rId15"/>
    <p:sldId id="304" r:id="rId16"/>
    <p:sldId id="305" r:id="rId17"/>
    <p:sldId id="350" r:id="rId18"/>
    <p:sldId id="324" r:id="rId19"/>
    <p:sldId id="325" r:id="rId20"/>
    <p:sldId id="326" r:id="rId21"/>
    <p:sldId id="327" r:id="rId22"/>
    <p:sldId id="306" r:id="rId23"/>
    <p:sldId id="307" r:id="rId24"/>
    <p:sldId id="308" r:id="rId25"/>
    <p:sldId id="309" r:id="rId26"/>
    <p:sldId id="310" r:id="rId27"/>
    <p:sldId id="311" r:id="rId28"/>
    <p:sldId id="312" r:id="rId29"/>
    <p:sldId id="318" r:id="rId30"/>
    <p:sldId id="319" r:id="rId31"/>
    <p:sldId id="328" r:id="rId32"/>
    <p:sldId id="329" r:id="rId33"/>
    <p:sldId id="330" r:id="rId34"/>
    <p:sldId id="320" r:id="rId35"/>
    <p:sldId id="331" r:id="rId36"/>
    <p:sldId id="332" r:id="rId37"/>
    <p:sldId id="333" r:id="rId38"/>
    <p:sldId id="317" r:id="rId39"/>
    <p:sldId id="334" r:id="rId40"/>
    <p:sldId id="295" r:id="rId4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92">
          <p15:clr>
            <a:srgbClr val="A4A3A4"/>
          </p15:clr>
        </p15:guide>
        <p15:guide id="3" orient="horz" pos="4180">
          <p15:clr>
            <a:srgbClr val="A4A3A4"/>
          </p15:clr>
        </p15:guide>
        <p15:guide id="4"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CF63"/>
    <a:srgbClr val="222222"/>
    <a:srgbClr val="B9DA89"/>
    <a:srgbClr val="C5E09D"/>
    <a:srgbClr val="4F6F19"/>
    <a:srgbClr val="ABD274"/>
    <a:srgbClr val="262626"/>
    <a:srgbClr val="807F83"/>
    <a:srgbClr val="292929"/>
    <a:srgbClr val="3D5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47" autoAdjust="0"/>
    <p:restoredTop sz="94280" autoAdjust="0"/>
  </p:normalViewPr>
  <p:slideViewPr>
    <p:cSldViewPr snapToGrid="0">
      <p:cViewPr varScale="1">
        <p:scale>
          <a:sx n="70" d="100"/>
          <a:sy n="70" d="100"/>
        </p:scale>
        <p:origin x="996" y="78"/>
      </p:cViewPr>
      <p:guideLst>
        <p:guide orient="horz" pos="2160"/>
        <p:guide orient="horz" pos="1092"/>
        <p:guide orient="horz" pos="41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58B904F7-B3AE-4150-848F-DE7C9137B812}" type="datetimeFigureOut">
              <a:rPr lang="en-US"/>
              <a:pPr>
                <a:defRPr/>
              </a:pPr>
              <a:t>8/8/2019</a:t>
            </a:fld>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66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D964F34-BF8D-4C55-85D5-09C073D64729}" type="slidenum">
              <a:rPr lang="en-US"/>
              <a:pPr>
                <a:defRPr/>
              </a:pPr>
              <a:t>‹#›</a:t>
            </a:fld>
            <a:endParaRPr lang="en-US"/>
          </a:p>
        </p:txBody>
      </p:sp>
    </p:spTree>
    <p:extLst>
      <p:ext uri="{BB962C8B-B14F-4D97-AF65-F5344CB8AC3E}">
        <p14:creationId xmlns:p14="http://schemas.microsoft.com/office/powerpoint/2010/main" val="40194844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ctrTitle" hasCustomPrompt="1"/>
          </p:nvPr>
        </p:nvSpPr>
        <p:spPr>
          <a:xfrm>
            <a:off x="3178824" y="4318001"/>
            <a:ext cx="4876800" cy="1008841"/>
          </a:xfrm>
        </p:spPr>
        <p:txBody>
          <a:bodyPr anchor="b">
            <a:normAutofit/>
          </a:bodyPr>
          <a:lstStyle>
            <a:lvl1pPr algn="l">
              <a:defRPr sz="2800">
                <a:solidFill>
                  <a:srgbClr val="262626"/>
                </a:solidFill>
              </a:defRPr>
            </a:lvl1pPr>
          </a:lstStyle>
          <a:p>
            <a:r>
              <a:rPr lang="en-US" dirty="0"/>
              <a:t>Click to Edit Master Title Style</a:t>
            </a:r>
          </a:p>
        </p:txBody>
      </p:sp>
      <p:sp>
        <p:nvSpPr>
          <p:cNvPr id="3" name="Subtitle 2"/>
          <p:cNvSpPr>
            <a:spLocks noGrp="1"/>
          </p:cNvSpPr>
          <p:nvPr>
            <p:ph type="subTitle" idx="1" hasCustomPrompt="1"/>
          </p:nvPr>
        </p:nvSpPr>
        <p:spPr>
          <a:xfrm>
            <a:off x="3178824" y="5326842"/>
            <a:ext cx="4876800" cy="1202765"/>
          </a:xfrm>
        </p:spPr>
        <p:txBody>
          <a:bodyPr/>
          <a:lstStyle>
            <a:lvl1pPr marL="0" indent="0" algn="l">
              <a:buNone/>
              <a:defRPr sz="1600">
                <a:solidFill>
                  <a:schemeClr val="accent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lumMod val="85000"/>
                    <a:lumOff val="15000"/>
                  </a:schemeClr>
                </a:solidFill>
              </a:defRPr>
            </a:lvl1pPr>
          </a:lstStyle>
          <a:p>
            <a:r>
              <a:rPr lang="en-US" dirty="0"/>
              <a:t>Click to Edit Master Title Style</a:t>
            </a:r>
          </a:p>
        </p:txBody>
      </p:sp>
      <p:sp>
        <p:nvSpPr>
          <p:cNvPr id="3" name="Content Placeholder 2"/>
          <p:cNvSpPr>
            <a:spLocks noGrp="1"/>
          </p:cNvSpPr>
          <p:nvPr>
            <p:ph idx="1" hasCustomPrompt="1"/>
          </p:nvPr>
        </p:nvSpPr>
        <p:spPr>
          <a:xfrm>
            <a:off x="381000" y="1733550"/>
            <a:ext cx="8305800" cy="4438650"/>
          </a:xfrm>
        </p:spPr>
        <p:txBody>
          <a:bodyPr/>
          <a:lstStyle>
            <a:lvl1pPr>
              <a:defRPr sz="1800">
                <a:solidFill>
                  <a:schemeClr val="tx1">
                    <a:lumMod val="85000"/>
                    <a:lumOff val="15000"/>
                  </a:schemeClr>
                </a:solidFill>
              </a:defRPr>
            </a:lvl1pPr>
            <a:lvl2pPr>
              <a:buFont typeface="Arial" pitchFamily="34" charset="0"/>
              <a:buChar char="–"/>
              <a:defRPr sz="1600">
                <a:solidFill>
                  <a:schemeClr val="tx1">
                    <a:lumMod val="85000"/>
                    <a:lumOff val="15000"/>
                  </a:schemeClr>
                </a:solidFill>
              </a:defRPr>
            </a:lvl2pPr>
            <a:lvl3pPr>
              <a:defRPr sz="1400">
                <a:solidFill>
                  <a:schemeClr val="tx1">
                    <a:lumMod val="85000"/>
                    <a:lumOff val="15000"/>
                  </a:schemeClr>
                </a:solidFill>
              </a:defRPr>
            </a:lvl3pPr>
            <a:lvl4pPr>
              <a:defRPr sz="1200">
                <a:solidFill>
                  <a:schemeClr val="tx1">
                    <a:lumMod val="85000"/>
                    <a:lumOff val="15000"/>
                  </a:schemeClr>
                </a:solidFill>
              </a:defRPr>
            </a:lvl4pPr>
            <a:lvl5pPr>
              <a:defRPr sz="1200">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0"/>
          </p:nvPr>
        </p:nvSpPr>
        <p:spPr>
          <a:xfrm>
            <a:off x="8039100" y="6477000"/>
            <a:ext cx="685800" cy="228600"/>
          </a:xfrm>
        </p:spPr>
        <p:txBody>
          <a:bodyPr/>
          <a:lstStyle>
            <a:lvl1pPr>
              <a:defRPr/>
            </a:lvl1pPr>
          </a:lstStyle>
          <a:p>
            <a:pPr>
              <a:defRPr/>
            </a:pPr>
            <a:fld id="{768258C4-666F-437C-BCA1-7A42258BCC8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1">
                    <a:lumMod val="85000"/>
                    <a:lumOff val="15000"/>
                  </a:schemeClr>
                </a:solidFill>
              </a:defRPr>
            </a:lvl1pPr>
          </a:lstStyle>
          <a:p>
            <a:r>
              <a:rPr lang="en-US" dirty="0"/>
              <a:t>Click to Edit Master Title Style</a:t>
            </a:r>
          </a:p>
        </p:txBody>
      </p:sp>
      <p:sp>
        <p:nvSpPr>
          <p:cNvPr id="3" name="Slide Number Placeholder 2"/>
          <p:cNvSpPr>
            <a:spLocks noGrp="1"/>
          </p:cNvSpPr>
          <p:nvPr>
            <p:ph type="sldNum" sz="quarter" idx="10"/>
          </p:nvPr>
        </p:nvSpPr>
        <p:spPr>
          <a:xfrm>
            <a:off x="8039100" y="6477000"/>
            <a:ext cx="685800" cy="228600"/>
          </a:xfrm>
        </p:spPr>
        <p:txBody>
          <a:bodyPr/>
          <a:lstStyle/>
          <a:p>
            <a:pPr>
              <a:defRPr/>
            </a:pPr>
            <a:fld id="{97682614-2917-43EC-8DD5-4144BBD4E795}" type="slidenum">
              <a:rPr lang="en-US" smtClean="0"/>
              <a:pPr>
                <a:defRPr/>
              </a:pPr>
              <a:t>‹#›</a:t>
            </a:fld>
            <a:endParaRPr lang="en-US"/>
          </a:p>
        </p:txBody>
      </p:sp>
      <p:sp>
        <p:nvSpPr>
          <p:cNvPr id="4" name="Content Placeholder 2"/>
          <p:cNvSpPr>
            <a:spLocks noGrp="1"/>
          </p:cNvSpPr>
          <p:nvPr>
            <p:ph idx="1" hasCustomPrompt="1"/>
          </p:nvPr>
        </p:nvSpPr>
        <p:spPr>
          <a:xfrm>
            <a:off x="381000" y="1733550"/>
            <a:ext cx="3886200" cy="4438650"/>
          </a:xfrm>
        </p:spPr>
        <p:txBody>
          <a:bodyPr/>
          <a:lstStyle>
            <a:lvl1pPr>
              <a:defRPr>
                <a:solidFill>
                  <a:schemeClr val="tx1">
                    <a:lumMod val="85000"/>
                    <a:lumOff val="15000"/>
                  </a:schemeClr>
                </a:solidFill>
              </a:defRPr>
            </a:lvl1pPr>
            <a:lvl2pPr>
              <a:buFont typeface="Arial" pitchFamily="34" charset="0"/>
              <a:buChar char="–"/>
              <a:defRPr sz="1600">
                <a:solidFill>
                  <a:schemeClr val="tx1">
                    <a:lumMod val="85000"/>
                    <a:lumOff val="15000"/>
                  </a:schemeClr>
                </a:solidFill>
              </a:defRPr>
            </a:lvl2pPr>
            <a:lvl3pPr>
              <a:defRPr sz="1400">
                <a:solidFill>
                  <a:schemeClr val="tx1">
                    <a:lumMod val="85000"/>
                    <a:lumOff val="15000"/>
                  </a:schemeClr>
                </a:solidFill>
              </a:defRPr>
            </a:lvl3pPr>
            <a:lvl4pPr>
              <a:defRPr sz="1200">
                <a:solidFill>
                  <a:schemeClr val="tx1">
                    <a:lumMod val="85000"/>
                    <a:lumOff val="15000"/>
                  </a:schemeClr>
                </a:solidFill>
              </a:defRPr>
            </a:lvl4pPr>
            <a:lvl5pPr>
              <a:defRPr sz="1200">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idx="11" hasCustomPrompt="1"/>
          </p:nvPr>
        </p:nvSpPr>
        <p:spPr>
          <a:xfrm>
            <a:off x="4648200" y="1733550"/>
            <a:ext cx="3886200" cy="4438650"/>
          </a:xfrm>
        </p:spPr>
        <p:txBody>
          <a:bodyPr/>
          <a:lstStyle>
            <a:lvl1pPr>
              <a:defRPr>
                <a:solidFill>
                  <a:schemeClr val="tx1">
                    <a:lumMod val="85000"/>
                    <a:lumOff val="15000"/>
                  </a:schemeClr>
                </a:solidFill>
              </a:defRPr>
            </a:lvl1pPr>
            <a:lvl2pPr>
              <a:buFont typeface="Arial" pitchFamily="34" charset="0"/>
              <a:buChar char="–"/>
              <a:defRPr sz="1600">
                <a:solidFill>
                  <a:schemeClr val="tx1">
                    <a:lumMod val="85000"/>
                    <a:lumOff val="15000"/>
                  </a:schemeClr>
                </a:solidFill>
              </a:defRPr>
            </a:lvl2pPr>
            <a:lvl3pPr>
              <a:defRPr sz="1400">
                <a:solidFill>
                  <a:schemeClr val="tx1">
                    <a:lumMod val="85000"/>
                    <a:lumOff val="15000"/>
                  </a:schemeClr>
                </a:solidFill>
              </a:defRPr>
            </a:lvl3pPr>
            <a:lvl4pPr>
              <a:defRPr sz="1200">
                <a:solidFill>
                  <a:schemeClr val="tx1">
                    <a:lumMod val="85000"/>
                    <a:lumOff val="15000"/>
                  </a:schemeClr>
                </a:solidFill>
              </a:defRPr>
            </a:lvl4pPr>
            <a:lvl5pPr>
              <a:defRPr sz="1200">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Rectangle 5"/>
          <p:cNvSpPr/>
          <p:nvPr userDrawn="1"/>
        </p:nvSpPr>
        <p:spPr>
          <a:xfrm>
            <a:off x="-10123" y="1238250"/>
            <a:ext cx="9154123" cy="4821028"/>
          </a:xfrm>
          <a:prstGeom prst="rect">
            <a:avLst/>
          </a:prstGeom>
          <a:gradFill flip="none" rotWithShape="1">
            <a:gsLst>
              <a:gs pos="0">
                <a:srgbClr val="B3B2B5">
                  <a:tint val="66000"/>
                  <a:satMod val="160000"/>
                </a:srgbClr>
              </a:gs>
              <a:gs pos="50000">
                <a:srgbClr val="B3B2B5">
                  <a:tint val="44500"/>
                  <a:satMod val="160000"/>
                </a:srgbClr>
              </a:gs>
              <a:gs pos="100000">
                <a:srgbClr val="B3B2B5">
                  <a:tint val="23500"/>
                  <a:satMod val="160000"/>
                </a:srgb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Slide Number Placeholder 5"/>
          <p:cNvSpPr>
            <a:spLocks noGrp="1"/>
          </p:cNvSpPr>
          <p:nvPr>
            <p:ph type="sldNum" sz="quarter" idx="10"/>
          </p:nvPr>
        </p:nvSpPr>
        <p:spPr>
          <a:xfrm>
            <a:off x="8039100" y="6477000"/>
            <a:ext cx="685800" cy="228600"/>
          </a:xfrm>
        </p:spPr>
        <p:txBody>
          <a:bodyPr/>
          <a:lstStyle>
            <a:lvl1pPr>
              <a:defRPr/>
            </a:lvl1pPr>
          </a:lstStyle>
          <a:p>
            <a:pPr>
              <a:defRPr/>
            </a:pPr>
            <a:fld id="{5DD03AAB-E503-4774-B78C-C97D3052DAA6}" type="slidenum">
              <a:rPr lang="en-US"/>
              <a:pPr>
                <a:defRPr/>
              </a:pPr>
              <a:t>‹#›</a:t>
            </a:fld>
            <a:endParaRPr lang="en-US"/>
          </a:p>
        </p:txBody>
      </p:sp>
      <p:sp>
        <p:nvSpPr>
          <p:cNvPr id="5" name="Title 1"/>
          <p:cNvSpPr>
            <a:spLocks noGrp="1"/>
          </p:cNvSpPr>
          <p:nvPr>
            <p:ph type="title" hasCustomPrompt="1"/>
          </p:nvPr>
        </p:nvSpPr>
        <p:spPr>
          <a:xfrm>
            <a:off x="381000" y="195263"/>
            <a:ext cx="6096000" cy="838200"/>
          </a:xfrm>
        </p:spPr>
        <p:txBody>
          <a:bodyPr/>
          <a:lstStyle>
            <a:lvl1pPr>
              <a:defRPr>
                <a:solidFill>
                  <a:schemeClr val="tx1">
                    <a:lumMod val="85000"/>
                    <a:lumOff val="15000"/>
                  </a:schemeClr>
                </a:solidFill>
              </a:defRPr>
            </a:lvl1pPr>
          </a:lstStyle>
          <a:p>
            <a:r>
              <a:rPr lang="en-US" dirty="0"/>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Title slide pictu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9" name="Title 10"/>
          <p:cNvSpPr>
            <a:spLocks noGrp="1"/>
          </p:cNvSpPr>
          <p:nvPr>
            <p:ph type="title" hasCustomPrompt="1"/>
          </p:nvPr>
        </p:nvSpPr>
        <p:spPr>
          <a:xfrm>
            <a:off x="382588" y="668433"/>
            <a:ext cx="6012000" cy="1833019"/>
          </a:xfrm>
        </p:spPr>
        <p:txBody>
          <a:bodyPr anchor="b" anchorCtr="0">
            <a:noAutofit/>
          </a:bodyPr>
          <a:lstStyle>
            <a:lvl1pPr>
              <a:defRPr sz="5000" spc="-100" baseline="0">
                <a:solidFill>
                  <a:schemeClr val="bg2"/>
                </a:solidFill>
              </a:defRPr>
            </a:lvl1pPr>
          </a:lstStyle>
          <a:p>
            <a:r>
              <a:rPr lang="fi-FI" dirty="0"/>
              <a:t>Presentation title</a:t>
            </a:r>
            <a:endParaRPr lang="en-US" dirty="0"/>
          </a:p>
        </p:txBody>
      </p:sp>
      <p:sp>
        <p:nvSpPr>
          <p:cNvPr id="20" name="Text Placeholder 19"/>
          <p:cNvSpPr>
            <a:spLocks noGrp="1"/>
          </p:cNvSpPr>
          <p:nvPr>
            <p:ph type="body" sz="quarter" idx="13" hasCustomPrompt="1"/>
          </p:nvPr>
        </p:nvSpPr>
        <p:spPr>
          <a:xfrm>
            <a:off x="382588" y="3007555"/>
            <a:ext cx="6012000" cy="1460501"/>
          </a:xfrm>
        </p:spPr>
        <p:txBody>
          <a:bodyPr>
            <a:normAutofit/>
          </a:bodyPr>
          <a:lstStyle>
            <a:lvl1pPr marL="0" indent="0">
              <a:buFontTx/>
              <a:buNone/>
              <a:defRPr sz="2000" b="0">
                <a:solidFill>
                  <a:schemeClr val="bg2"/>
                </a:solidFill>
              </a:defRPr>
            </a:lvl1pPr>
            <a:lvl2pPr>
              <a:defRPr>
                <a:solidFill>
                  <a:srgbClr val="004F71"/>
                </a:solidFill>
              </a:defRPr>
            </a:lvl2pPr>
            <a:lvl3pPr>
              <a:defRPr>
                <a:solidFill>
                  <a:srgbClr val="004F71"/>
                </a:solidFill>
              </a:defRPr>
            </a:lvl3pPr>
            <a:lvl4pPr>
              <a:defRPr>
                <a:solidFill>
                  <a:srgbClr val="004F71"/>
                </a:solidFill>
              </a:defRPr>
            </a:lvl4pPr>
            <a:lvl5pPr>
              <a:defRPr>
                <a:solidFill>
                  <a:srgbClr val="004F71"/>
                </a:solidFill>
              </a:defRPr>
            </a:lvl5pPr>
          </a:lstStyle>
          <a:p>
            <a:pPr lvl="0"/>
            <a:r>
              <a:rPr lang="fi-FI" dirty="0"/>
              <a:t>Presentation subtitle</a:t>
            </a:r>
          </a:p>
        </p:txBody>
      </p:sp>
      <p:sp>
        <p:nvSpPr>
          <p:cNvPr id="21" name="Tekstin paikkamerkki 6"/>
          <p:cNvSpPr>
            <a:spLocks noGrp="1"/>
          </p:cNvSpPr>
          <p:nvPr>
            <p:ph type="body" sz="quarter" idx="14" hasCustomPrompt="1"/>
          </p:nvPr>
        </p:nvSpPr>
        <p:spPr>
          <a:xfrm>
            <a:off x="381600" y="6193855"/>
            <a:ext cx="2833200" cy="216000"/>
          </a:xfrm>
        </p:spPr>
        <p:txBody>
          <a:bodyPr/>
          <a:lstStyle>
            <a:lvl1pPr marL="0" indent="0">
              <a:buFontTx/>
              <a:buNone/>
              <a:defRPr sz="1300" b="0">
                <a:solidFill>
                  <a:schemeClr val="bg1"/>
                </a:solidFill>
              </a:defRPr>
            </a:lvl1pPr>
          </a:lstStyle>
          <a:p>
            <a:pPr lvl="0"/>
            <a:r>
              <a:rPr lang="fi-FI" dirty="0" err="1"/>
              <a:t>Date</a:t>
            </a:r>
            <a:endParaRPr lang="fi-FI" dirty="0"/>
          </a:p>
        </p:txBody>
      </p:sp>
      <p:sp>
        <p:nvSpPr>
          <p:cNvPr id="22" name="Text Placeholder 4"/>
          <p:cNvSpPr>
            <a:spLocks noGrp="1"/>
          </p:cNvSpPr>
          <p:nvPr>
            <p:ph type="body" sz="quarter" idx="15" hasCustomPrompt="1"/>
          </p:nvPr>
        </p:nvSpPr>
        <p:spPr>
          <a:xfrm>
            <a:off x="382588" y="5954288"/>
            <a:ext cx="4320000" cy="216000"/>
          </a:xfrm>
        </p:spPr>
        <p:txBody>
          <a:bodyPr anchor="b" anchorCtr="0">
            <a:noAutofit/>
          </a:bodyPr>
          <a:lstStyle>
            <a:lvl1pPr marL="0" indent="0">
              <a:lnSpc>
                <a:spcPct val="100000"/>
              </a:lnSpc>
              <a:spcBef>
                <a:spcPts val="0"/>
              </a:spcBef>
              <a:buFontTx/>
              <a:buNone/>
              <a:defRPr sz="1300" b="1">
                <a:solidFill>
                  <a:schemeClr val="bg1"/>
                </a:solidFill>
              </a:defRPr>
            </a:lvl1pPr>
          </a:lstStyle>
          <a:p>
            <a:pPr lvl="0"/>
            <a:r>
              <a:rPr lang="en-US" dirty="0"/>
              <a:t>Speaker name, title</a:t>
            </a:r>
          </a:p>
        </p:txBody>
      </p:sp>
      <p:pic>
        <p:nvPicPr>
          <p:cNvPr id="10" name="Picture 9">
            <a:extLst>
              <a:ext uri="{FF2B5EF4-FFF2-40B4-BE49-F238E27FC236}">
                <a16:creationId xmlns:a16="http://schemas.microsoft.com/office/drawing/2014/main" id="{C22C79CD-D5ED-4FD9-A14C-DE69E4B1E0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814639" y="5820402"/>
            <a:ext cx="2973984" cy="684000"/>
          </a:xfrm>
          <a:prstGeom prst="rect">
            <a:avLst/>
          </a:prstGeom>
        </p:spPr>
      </p:pic>
      <p:cxnSp>
        <p:nvCxnSpPr>
          <p:cNvPr id="18" name="Straight Connector 17">
            <a:extLst>
              <a:ext uri="{FF2B5EF4-FFF2-40B4-BE49-F238E27FC236}">
                <a16:creationId xmlns:a16="http://schemas.microsoft.com/office/drawing/2014/main" id="{D0D79896-60C4-4DCE-87A8-51F36B830207}"/>
              </a:ext>
            </a:extLst>
          </p:cNvPr>
          <p:cNvCxnSpPr>
            <a:cxnSpLocks/>
          </p:cNvCxnSpPr>
          <p:nvPr userDrawn="1"/>
        </p:nvCxnSpPr>
        <p:spPr>
          <a:xfrm>
            <a:off x="382588" y="2737763"/>
            <a:ext cx="1181807" cy="0"/>
          </a:xfrm>
          <a:prstGeom prst="line">
            <a:avLst/>
          </a:prstGeom>
          <a:ln w="76200" cap="rnd">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9470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En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14000" y="2886674"/>
            <a:ext cx="4716000" cy="1084653"/>
          </a:xfrm>
          <a:prstGeom prst="rect">
            <a:avLst/>
          </a:prstGeom>
        </p:spPr>
      </p:pic>
      <p:sp>
        <p:nvSpPr>
          <p:cNvPr id="4" name="TextBox 3"/>
          <p:cNvSpPr txBox="1"/>
          <p:nvPr userDrawn="1"/>
        </p:nvSpPr>
        <p:spPr>
          <a:xfrm>
            <a:off x="139468" y="6476563"/>
            <a:ext cx="6588878" cy="215444"/>
          </a:xfrm>
          <a:prstGeom prst="rect">
            <a:avLst/>
          </a:prstGeom>
          <a:noFill/>
        </p:spPr>
        <p:txBody>
          <a:bodyPr wrap="square" rtlCol="0">
            <a:spAutoFit/>
          </a:bodyPr>
          <a:lstStyle/>
          <a:p>
            <a:r>
              <a:rPr lang="en-US" sz="800" b="1" i="1" dirty="0">
                <a:solidFill>
                  <a:schemeClr val="bg1"/>
                </a:solidFill>
              </a:rPr>
              <a:t>©2018 FIS and/or its subsidiaries. All Rights Reserved.</a:t>
            </a:r>
            <a:r>
              <a:rPr lang="en-US" sz="800" b="1" i="1" baseline="0" dirty="0">
                <a:solidFill>
                  <a:schemeClr val="bg1"/>
                </a:solidFill>
              </a:rPr>
              <a:t> </a:t>
            </a:r>
            <a:r>
              <a:rPr lang="en-US" sz="800" b="1" i="1" dirty="0">
                <a:solidFill>
                  <a:schemeClr val="bg1"/>
                </a:solidFill>
                <a:cs typeface="Arial"/>
              </a:rPr>
              <a:t>FIS confidential and proprietary information. </a:t>
            </a:r>
          </a:p>
        </p:txBody>
      </p:sp>
    </p:spTree>
    <p:extLst>
      <p:ext uri="{BB962C8B-B14F-4D97-AF65-F5344CB8AC3E}">
        <p14:creationId xmlns:p14="http://schemas.microsoft.com/office/powerpoint/2010/main" val="3976653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00046-FDDC-4F1C-ABBE-E3FB2C5DAF4E}"/>
              </a:ext>
            </a:extLst>
          </p:cNvPr>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3E3086-EDFF-4AFB-85EE-0F664A3A4D61}"/>
              </a:ext>
            </a:extLst>
          </p:cNvPr>
          <p:cNvSpPr>
            <a:spLocks noGrp="1"/>
          </p:cNvSpPr>
          <p:nvPr>
            <p:ph type="body"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625838-8467-4707-AF28-7D4FE57EBA59}"/>
              </a:ext>
            </a:extLst>
          </p:cNvPr>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2915DB-45CF-4DE2-8014-EBA4208E88C7}"/>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C335432-F414-4704-812A-190664E4066A}"/>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B72DC72-6158-49E3-9FF5-7D31C69F9A61}"/>
              </a:ext>
            </a:extLst>
          </p:cNvPr>
          <p:cNvSpPr>
            <a:spLocks noGrp="1"/>
          </p:cNvSpPr>
          <p:nvPr>
            <p:ph type="sldNum" sz="quarter" idx="12"/>
          </p:nvPr>
        </p:nvSpPr>
        <p:spPr>
          <a:xfrm>
            <a:off x="6553200" y="6245225"/>
            <a:ext cx="2133600" cy="476250"/>
          </a:xfrm>
        </p:spPr>
        <p:txBody>
          <a:bodyPr/>
          <a:lstStyle>
            <a:lvl1pPr>
              <a:defRPr/>
            </a:lvl1pPr>
          </a:lstStyle>
          <a:p>
            <a:fld id="{12CAB8D4-0EE5-4007-B293-306686CD6123}" type="slidenum">
              <a:rPr lang="en-US" altLang="en-US"/>
              <a:pPr/>
              <a:t>‹#›</a:t>
            </a:fld>
            <a:endParaRPr lang="en-US" altLang="en-US"/>
          </a:p>
        </p:txBody>
      </p:sp>
    </p:spTree>
    <p:extLst>
      <p:ext uri="{BB962C8B-B14F-4D97-AF65-F5344CB8AC3E}">
        <p14:creationId xmlns:p14="http://schemas.microsoft.com/office/powerpoint/2010/main" val="1758327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 Slide">
    <p:spTree>
      <p:nvGrpSpPr>
        <p:cNvPr id="1" name=""/>
        <p:cNvGrpSpPr/>
        <p:nvPr/>
      </p:nvGrpSpPr>
      <p:grpSpPr>
        <a:xfrm>
          <a:off x="0" y="0"/>
          <a:ext cx="0" cy="0"/>
          <a:chOff x="0" y="0"/>
          <a:chExt cx="0" cy="0"/>
        </a:xfrm>
      </p:grpSpPr>
      <p:sp>
        <p:nvSpPr>
          <p:cNvPr id="11" name="Subtitle 2"/>
          <p:cNvSpPr>
            <a:spLocks noGrp="1"/>
          </p:cNvSpPr>
          <p:nvPr>
            <p:ph type="subTitle" idx="1" hasCustomPrompt="1"/>
          </p:nvPr>
        </p:nvSpPr>
        <p:spPr>
          <a:xfrm>
            <a:off x="1206927" y="3783255"/>
            <a:ext cx="4876800" cy="1202765"/>
          </a:xfrm>
          <a:prstGeom prst="rect">
            <a:avLst/>
          </a:prstGeom>
        </p:spPr>
        <p:txBody>
          <a:bodyPr/>
          <a:lstStyle>
            <a:lvl1pPr marL="0" indent="0" algn="l">
              <a:buNone/>
              <a:defRPr sz="1600">
                <a:solidFill>
                  <a:schemeClr val="accent1"/>
                </a:solidFill>
                <a:latin typeface="Calibri" pitchFamily="34" charset="0"/>
                <a:cs typeface="Calibr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a:t>
            </a:r>
            <a:r>
              <a:rPr lang="en-US"/>
              <a:t>to Edit </a:t>
            </a:r>
            <a:r>
              <a:rPr lang="en-US" dirty="0"/>
              <a:t>Subtitle if Required</a:t>
            </a:r>
          </a:p>
        </p:txBody>
      </p:sp>
      <p:sp>
        <p:nvSpPr>
          <p:cNvPr id="12" name="Title 1"/>
          <p:cNvSpPr>
            <a:spLocks noGrp="1"/>
          </p:cNvSpPr>
          <p:nvPr>
            <p:ph type="ctrTitle" hasCustomPrompt="1"/>
          </p:nvPr>
        </p:nvSpPr>
        <p:spPr>
          <a:xfrm>
            <a:off x="1206927" y="2764254"/>
            <a:ext cx="4876800" cy="1008841"/>
          </a:xfrm>
          <a:prstGeom prst="rect">
            <a:avLst/>
          </a:prstGeom>
        </p:spPr>
        <p:txBody>
          <a:bodyPr anchor="b">
            <a:normAutofit/>
          </a:bodyPr>
          <a:lstStyle>
            <a:lvl1pPr algn="l">
              <a:defRPr sz="2800">
                <a:solidFill>
                  <a:srgbClr val="222222"/>
                </a:solidFill>
                <a:latin typeface="Calibri" pitchFamily="34" charset="0"/>
                <a:cs typeface="Calibri" pitchFamily="34" charset="0"/>
              </a:defRPr>
            </a:lvl1pPr>
          </a:lstStyle>
          <a:p>
            <a:r>
              <a:rPr lang="en-US" dirty="0"/>
              <a:t>Click to Edit Section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8.xml"/><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blipFill dpi="0" rotWithShape="0">
          <a:blip r:embed="rId9"/>
          <a:srcRect/>
          <a:stretch>
            <a:fillRect/>
          </a:stretch>
        </a:blip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10"/>
          <a:srcRect/>
          <a:stretch>
            <a:fillRect/>
          </a:stretch>
        </p:blipFill>
        <p:spPr bwMode="auto">
          <a:xfrm>
            <a:off x="0" y="0"/>
            <a:ext cx="9144000" cy="6858000"/>
          </a:xfrm>
          <a:prstGeom prst="rect">
            <a:avLst/>
          </a:prstGeom>
          <a:noFill/>
          <a:ln w="9525">
            <a:noFill/>
            <a:miter lim="800000"/>
            <a:headEnd/>
            <a:tailEnd/>
          </a:ln>
        </p:spPr>
      </p:pic>
      <p:sp>
        <p:nvSpPr>
          <p:cNvPr id="1026" name="Title Placeholder 1"/>
          <p:cNvSpPr>
            <a:spLocks noGrp="1"/>
          </p:cNvSpPr>
          <p:nvPr>
            <p:ph type="title"/>
          </p:nvPr>
        </p:nvSpPr>
        <p:spPr bwMode="auto">
          <a:xfrm>
            <a:off x="381000" y="195263"/>
            <a:ext cx="6096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381000" y="1733550"/>
            <a:ext cx="8305800" cy="44386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8039100" y="6477979"/>
            <a:ext cx="685800" cy="228600"/>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6E6F70"/>
                </a:solidFill>
                <a:cs typeface="Arial" charset="0"/>
              </a:defRPr>
            </a:lvl1pPr>
          </a:lstStyle>
          <a:p>
            <a:pPr>
              <a:defRPr/>
            </a:pPr>
            <a:fld id="{97682614-2917-43EC-8DD5-4144BBD4E79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0" r:id="rId1"/>
    <p:sldLayoutId id="2147483668" r:id="rId2"/>
    <p:sldLayoutId id="2147483681" r:id="rId3"/>
    <p:sldLayoutId id="2147483667" r:id="rId4"/>
    <p:sldLayoutId id="2147483684" r:id="rId5"/>
    <p:sldLayoutId id="2147483685" r:id="rId6"/>
    <p:sldLayoutId id="2147483686" r:id="rId7"/>
  </p:sldLayoutIdLst>
  <p:hf hdr="0" ftr="0" dt="0"/>
  <p:txStyles>
    <p:titleStyle>
      <a:lvl1pPr algn="l" defTabSz="457200" rtl="0" eaLnBrk="1" fontAlgn="base" hangingPunct="1">
        <a:spcBef>
          <a:spcPct val="0"/>
        </a:spcBef>
        <a:spcAft>
          <a:spcPct val="0"/>
        </a:spcAft>
        <a:defRPr sz="2800" kern="1200">
          <a:solidFill>
            <a:schemeClr val="tx1">
              <a:lumMod val="85000"/>
              <a:lumOff val="15000"/>
            </a:schemeClr>
          </a:solidFill>
          <a:latin typeface="+mj-lt"/>
          <a:ea typeface="+mj-ea"/>
          <a:cs typeface="Arial"/>
        </a:defRPr>
      </a:lvl1pPr>
      <a:lvl2pPr algn="l" defTabSz="457200" rtl="0" eaLnBrk="1" fontAlgn="base" hangingPunct="1">
        <a:spcBef>
          <a:spcPct val="0"/>
        </a:spcBef>
        <a:spcAft>
          <a:spcPct val="0"/>
        </a:spcAft>
        <a:defRPr sz="2400">
          <a:solidFill>
            <a:srgbClr val="807F83"/>
          </a:solidFill>
          <a:latin typeface="Arial" charset="0"/>
          <a:cs typeface="Arial" charset="0"/>
        </a:defRPr>
      </a:lvl2pPr>
      <a:lvl3pPr algn="l" defTabSz="457200" rtl="0" eaLnBrk="1" fontAlgn="base" hangingPunct="1">
        <a:spcBef>
          <a:spcPct val="0"/>
        </a:spcBef>
        <a:spcAft>
          <a:spcPct val="0"/>
        </a:spcAft>
        <a:defRPr sz="2400">
          <a:solidFill>
            <a:srgbClr val="807F83"/>
          </a:solidFill>
          <a:latin typeface="Arial" charset="0"/>
          <a:cs typeface="Arial" charset="0"/>
        </a:defRPr>
      </a:lvl3pPr>
      <a:lvl4pPr algn="l" defTabSz="457200" rtl="0" eaLnBrk="1" fontAlgn="base" hangingPunct="1">
        <a:spcBef>
          <a:spcPct val="0"/>
        </a:spcBef>
        <a:spcAft>
          <a:spcPct val="0"/>
        </a:spcAft>
        <a:defRPr sz="2400">
          <a:solidFill>
            <a:srgbClr val="807F83"/>
          </a:solidFill>
          <a:latin typeface="Arial" charset="0"/>
          <a:cs typeface="Arial" charset="0"/>
        </a:defRPr>
      </a:lvl4pPr>
      <a:lvl5pPr algn="l" defTabSz="457200" rtl="0" eaLnBrk="1" fontAlgn="base" hangingPunct="1">
        <a:spcBef>
          <a:spcPct val="0"/>
        </a:spcBef>
        <a:spcAft>
          <a:spcPct val="0"/>
        </a:spcAft>
        <a:defRPr sz="2400">
          <a:solidFill>
            <a:srgbClr val="807F83"/>
          </a:solidFill>
          <a:latin typeface="Arial" charset="0"/>
          <a:cs typeface="Arial" charset="0"/>
        </a:defRPr>
      </a:lvl5pPr>
      <a:lvl6pPr marL="457200" algn="l" defTabSz="457200" rtl="0" eaLnBrk="1" fontAlgn="base" hangingPunct="1">
        <a:spcBef>
          <a:spcPct val="0"/>
        </a:spcBef>
        <a:spcAft>
          <a:spcPct val="0"/>
        </a:spcAft>
        <a:defRPr sz="2400">
          <a:solidFill>
            <a:schemeClr val="tx2"/>
          </a:solidFill>
          <a:latin typeface="Arial" charset="0"/>
          <a:cs typeface="Arial" charset="0"/>
        </a:defRPr>
      </a:lvl6pPr>
      <a:lvl7pPr marL="914400" algn="l" defTabSz="457200" rtl="0" eaLnBrk="1" fontAlgn="base" hangingPunct="1">
        <a:spcBef>
          <a:spcPct val="0"/>
        </a:spcBef>
        <a:spcAft>
          <a:spcPct val="0"/>
        </a:spcAft>
        <a:defRPr sz="2400">
          <a:solidFill>
            <a:schemeClr val="tx2"/>
          </a:solidFill>
          <a:latin typeface="Arial" charset="0"/>
          <a:cs typeface="Arial" charset="0"/>
        </a:defRPr>
      </a:lvl7pPr>
      <a:lvl8pPr marL="1371600" algn="l" defTabSz="457200" rtl="0" eaLnBrk="1" fontAlgn="base" hangingPunct="1">
        <a:spcBef>
          <a:spcPct val="0"/>
        </a:spcBef>
        <a:spcAft>
          <a:spcPct val="0"/>
        </a:spcAft>
        <a:defRPr sz="2400">
          <a:solidFill>
            <a:schemeClr val="tx2"/>
          </a:solidFill>
          <a:latin typeface="Arial" charset="0"/>
          <a:cs typeface="Arial" charset="0"/>
        </a:defRPr>
      </a:lvl8pPr>
      <a:lvl9pPr marL="1828800" algn="l" defTabSz="457200" rtl="0" eaLnBrk="1" fontAlgn="base" hangingPunct="1">
        <a:spcBef>
          <a:spcPct val="0"/>
        </a:spcBef>
        <a:spcAft>
          <a:spcPct val="0"/>
        </a:spcAft>
        <a:defRPr sz="2400">
          <a:solidFill>
            <a:schemeClr val="tx2"/>
          </a:solidFill>
          <a:latin typeface="Arial" charset="0"/>
          <a:cs typeface="Arial" charset="0"/>
        </a:defRPr>
      </a:lvl9pPr>
    </p:titleStyle>
    <p:bodyStyle>
      <a:lvl1pPr marL="173038" indent="-173038" algn="l" defTabSz="457200" rtl="0" eaLnBrk="1" fontAlgn="base" hangingPunct="1">
        <a:spcBef>
          <a:spcPct val="20000"/>
        </a:spcBef>
        <a:spcAft>
          <a:spcPct val="0"/>
        </a:spcAft>
        <a:buClr>
          <a:srgbClr val="4F6F19"/>
        </a:buClr>
        <a:buSzPct val="120000"/>
        <a:buFont typeface="Arial" charset="0"/>
        <a:buChar char="•"/>
        <a:defRPr sz="1800" kern="1200">
          <a:solidFill>
            <a:schemeClr val="tx1">
              <a:lumMod val="85000"/>
              <a:lumOff val="15000"/>
            </a:schemeClr>
          </a:solidFill>
          <a:latin typeface="+mn-lt"/>
          <a:ea typeface="+mn-ea"/>
          <a:cs typeface="Arial"/>
        </a:defRPr>
      </a:lvl1pPr>
      <a:lvl2pPr marL="400050" indent="-230188" algn="l" defTabSz="457200" rtl="0" eaLnBrk="1" fontAlgn="base" hangingPunct="1">
        <a:spcBef>
          <a:spcPct val="20000"/>
        </a:spcBef>
        <a:spcAft>
          <a:spcPct val="0"/>
        </a:spcAft>
        <a:buClr>
          <a:srgbClr val="8DC63F"/>
        </a:buClr>
        <a:buSzPct val="110000"/>
        <a:buFont typeface="Arial" charset="0"/>
        <a:buChar char="–"/>
        <a:defRPr sz="1600" kern="1200">
          <a:solidFill>
            <a:schemeClr val="tx1">
              <a:lumMod val="85000"/>
              <a:lumOff val="15000"/>
            </a:schemeClr>
          </a:solidFill>
          <a:latin typeface="+mn-lt"/>
          <a:ea typeface="+mn-ea"/>
          <a:cs typeface="Arial"/>
        </a:defRPr>
      </a:lvl2pPr>
      <a:lvl3pPr marL="514350" indent="-117475" algn="l" defTabSz="457200" rtl="0" eaLnBrk="1" fontAlgn="base" hangingPunct="1">
        <a:spcBef>
          <a:spcPct val="20000"/>
        </a:spcBef>
        <a:spcAft>
          <a:spcPct val="0"/>
        </a:spcAft>
        <a:buClr>
          <a:srgbClr val="807F83"/>
        </a:buClr>
        <a:buFont typeface="Arial" charset="0"/>
        <a:buChar char="•"/>
        <a:defRPr sz="1400" kern="1200">
          <a:solidFill>
            <a:schemeClr val="tx1">
              <a:lumMod val="85000"/>
              <a:lumOff val="15000"/>
            </a:schemeClr>
          </a:solidFill>
          <a:latin typeface="+mn-lt"/>
          <a:ea typeface="+mn-ea"/>
          <a:cs typeface="Arial"/>
        </a:defRPr>
      </a:lvl3pPr>
      <a:lvl4pPr marL="682625" indent="-173038" algn="l" defTabSz="457200" rtl="0" eaLnBrk="1" fontAlgn="base" hangingPunct="1">
        <a:spcBef>
          <a:spcPct val="20000"/>
        </a:spcBef>
        <a:spcAft>
          <a:spcPct val="0"/>
        </a:spcAft>
        <a:buClr>
          <a:srgbClr val="A3CF63"/>
        </a:buClr>
        <a:buFont typeface="Arial" charset="0"/>
        <a:buChar char="–"/>
        <a:defRPr sz="1200" kern="1200">
          <a:solidFill>
            <a:schemeClr val="tx1">
              <a:lumMod val="85000"/>
              <a:lumOff val="15000"/>
            </a:schemeClr>
          </a:solidFill>
          <a:latin typeface="+mn-lt"/>
          <a:ea typeface="+mn-ea"/>
          <a:cs typeface="Arial"/>
        </a:defRPr>
      </a:lvl4pPr>
      <a:lvl5pPr marL="803275" indent="-122238" algn="l" defTabSz="457200" rtl="0" eaLnBrk="1" fontAlgn="base" hangingPunct="1">
        <a:spcBef>
          <a:spcPct val="20000"/>
        </a:spcBef>
        <a:spcAft>
          <a:spcPct val="0"/>
        </a:spcAft>
        <a:buClr>
          <a:srgbClr val="B9DA89"/>
        </a:buClr>
        <a:buFont typeface="Arial" charset="0"/>
        <a:buChar char="•"/>
        <a:defRPr sz="1200" kern="1200">
          <a:solidFill>
            <a:schemeClr val="tx1">
              <a:lumMod val="85000"/>
              <a:lumOff val="15000"/>
            </a:schemeClr>
          </a:solidFill>
          <a:latin typeface="+mn-lt"/>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bwMode="gray">
          <a:xfrm>
            <a:off x="8039100" y="6224588"/>
            <a:ext cx="685800" cy="228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a:defRPr sz="900">
                <a:solidFill>
                  <a:srgbClr val="6E6F70"/>
                </a:solidFill>
                <a:cs typeface="Arial" charset="0"/>
              </a:defRPr>
            </a:lvl1pPr>
          </a:lstStyle>
          <a:p>
            <a:pPr>
              <a:defRPr/>
            </a:pPr>
            <a:fld id="{44D4A6B8-AE0A-4524-BFF2-B6D8AD8C81B1}" type="slidenum">
              <a:rPr lang="en-US"/>
              <a:pPr>
                <a:defRPr/>
              </a:pPr>
              <a:t>‹#›</a:t>
            </a:fld>
            <a:endParaRPr lang="en-US"/>
          </a:p>
        </p:txBody>
      </p:sp>
      <p:pic>
        <p:nvPicPr>
          <p:cNvPr id="3075" name="Picture 3"/>
          <p:cNvPicPr>
            <a:picLocks noChangeAspect="1" noChangeArrowheads="1"/>
          </p:cNvPicPr>
          <p:nvPr userDrawn="1"/>
        </p:nvPicPr>
        <p:blipFill>
          <a:blip r:embed="rId4"/>
          <a:srcRect/>
          <a:stretch>
            <a:fillRect/>
          </a:stretch>
        </p:blipFill>
        <p:spPr bwMode="auto">
          <a:xfrm>
            <a:off x="0" y="0"/>
            <a:ext cx="9144000" cy="6858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2" r:id="rId1"/>
  </p:sldLayoutIdLst>
  <p:hf hdr="0" ftr="0" dt="0"/>
  <p:txStyles>
    <p:titleStyle>
      <a:lvl1pPr algn="l" defTabSz="457200" rtl="0" eaLnBrk="0" fontAlgn="base" hangingPunct="0">
        <a:spcBef>
          <a:spcPct val="0"/>
        </a:spcBef>
        <a:spcAft>
          <a:spcPct val="0"/>
        </a:spcAft>
        <a:defRPr sz="2400">
          <a:solidFill>
            <a:schemeClr val="tx2"/>
          </a:solidFill>
          <a:latin typeface="+mj-lt"/>
          <a:ea typeface="+mj-ea"/>
          <a:cs typeface="+mj-cs"/>
        </a:defRPr>
      </a:lvl1pPr>
      <a:lvl2pPr algn="l" defTabSz="457200" rtl="0" eaLnBrk="0" fontAlgn="base" hangingPunct="0">
        <a:spcBef>
          <a:spcPct val="0"/>
        </a:spcBef>
        <a:spcAft>
          <a:spcPct val="0"/>
        </a:spcAft>
        <a:defRPr sz="2400">
          <a:solidFill>
            <a:schemeClr val="tx2"/>
          </a:solidFill>
          <a:latin typeface="Arial" charset="0"/>
          <a:cs typeface="Arial" charset="0"/>
        </a:defRPr>
      </a:lvl2pPr>
      <a:lvl3pPr algn="l" defTabSz="457200" rtl="0" eaLnBrk="0" fontAlgn="base" hangingPunct="0">
        <a:spcBef>
          <a:spcPct val="0"/>
        </a:spcBef>
        <a:spcAft>
          <a:spcPct val="0"/>
        </a:spcAft>
        <a:defRPr sz="2400">
          <a:solidFill>
            <a:schemeClr val="tx2"/>
          </a:solidFill>
          <a:latin typeface="Arial" charset="0"/>
          <a:cs typeface="Arial" charset="0"/>
        </a:defRPr>
      </a:lvl3pPr>
      <a:lvl4pPr algn="l" defTabSz="457200" rtl="0" eaLnBrk="0" fontAlgn="base" hangingPunct="0">
        <a:spcBef>
          <a:spcPct val="0"/>
        </a:spcBef>
        <a:spcAft>
          <a:spcPct val="0"/>
        </a:spcAft>
        <a:defRPr sz="2400">
          <a:solidFill>
            <a:schemeClr val="tx2"/>
          </a:solidFill>
          <a:latin typeface="Arial" charset="0"/>
          <a:cs typeface="Arial" charset="0"/>
        </a:defRPr>
      </a:lvl4pPr>
      <a:lvl5pPr algn="l" defTabSz="457200" rtl="0" eaLnBrk="0" fontAlgn="base" hangingPunct="0">
        <a:spcBef>
          <a:spcPct val="0"/>
        </a:spcBef>
        <a:spcAft>
          <a:spcPct val="0"/>
        </a:spcAft>
        <a:defRPr sz="2400">
          <a:solidFill>
            <a:schemeClr val="tx2"/>
          </a:solidFill>
          <a:latin typeface="Arial" charset="0"/>
          <a:cs typeface="Arial" charset="0"/>
        </a:defRPr>
      </a:lvl5pPr>
      <a:lvl6pPr marL="457200" algn="l" defTabSz="457200" rtl="0" fontAlgn="base">
        <a:spcBef>
          <a:spcPct val="0"/>
        </a:spcBef>
        <a:spcAft>
          <a:spcPct val="0"/>
        </a:spcAft>
        <a:defRPr sz="2400">
          <a:solidFill>
            <a:schemeClr val="tx2"/>
          </a:solidFill>
          <a:latin typeface="Arial" charset="0"/>
          <a:cs typeface="Arial" charset="0"/>
        </a:defRPr>
      </a:lvl6pPr>
      <a:lvl7pPr marL="914400" algn="l" defTabSz="457200" rtl="0" fontAlgn="base">
        <a:spcBef>
          <a:spcPct val="0"/>
        </a:spcBef>
        <a:spcAft>
          <a:spcPct val="0"/>
        </a:spcAft>
        <a:defRPr sz="2400">
          <a:solidFill>
            <a:schemeClr val="tx2"/>
          </a:solidFill>
          <a:latin typeface="Arial" charset="0"/>
          <a:cs typeface="Arial" charset="0"/>
        </a:defRPr>
      </a:lvl7pPr>
      <a:lvl8pPr marL="1371600" algn="l" defTabSz="457200" rtl="0" fontAlgn="base">
        <a:spcBef>
          <a:spcPct val="0"/>
        </a:spcBef>
        <a:spcAft>
          <a:spcPct val="0"/>
        </a:spcAft>
        <a:defRPr sz="2400">
          <a:solidFill>
            <a:schemeClr val="tx2"/>
          </a:solidFill>
          <a:latin typeface="Arial" charset="0"/>
          <a:cs typeface="Arial" charset="0"/>
        </a:defRPr>
      </a:lvl8pPr>
      <a:lvl9pPr marL="1828800" algn="l" defTabSz="457200" rtl="0" fontAlgn="base">
        <a:spcBef>
          <a:spcPct val="0"/>
        </a:spcBef>
        <a:spcAft>
          <a:spcPct val="0"/>
        </a:spcAft>
        <a:defRPr sz="2400">
          <a:solidFill>
            <a:schemeClr val="tx2"/>
          </a:solidFill>
          <a:latin typeface="Arial" charset="0"/>
          <a:cs typeface="Arial" charset="0"/>
        </a:defRPr>
      </a:lvl9pPr>
    </p:titleStyle>
    <p:bodyStyle>
      <a:lvl1pPr marL="173038" indent="-173038" algn="l" defTabSz="457200" rtl="0" eaLnBrk="0" fontAlgn="base" hangingPunct="0">
        <a:spcBef>
          <a:spcPct val="20000"/>
        </a:spcBef>
        <a:spcAft>
          <a:spcPct val="0"/>
        </a:spcAft>
        <a:buClr>
          <a:srgbClr val="3E5C10"/>
        </a:buClr>
        <a:buSzPct val="120000"/>
        <a:buFont typeface="Arial" charset="0"/>
        <a:buChar char="•"/>
        <a:defRPr sz="1400">
          <a:solidFill>
            <a:schemeClr val="tx1"/>
          </a:solidFill>
          <a:latin typeface="+mn-lt"/>
          <a:ea typeface="+mn-ea"/>
          <a:cs typeface="+mn-cs"/>
        </a:defRPr>
      </a:lvl1pPr>
      <a:lvl2pPr marL="519113" indent="-122238" algn="l" defTabSz="457200" rtl="0" eaLnBrk="0" fontAlgn="base" hangingPunct="0">
        <a:spcBef>
          <a:spcPct val="20000"/>
        </a:spcBef>
        <a:spcAft>
          <a:spcPct val="0"/>
        </a:spcAft>
        <a:buClr>
          <a:srgbClr val="7ABB2B"/>
        </a:buClr>
        <a:buSzPct val="110000"/>
        <a:buFont typeface="Arial" charset="0"/>
        <a:buChar char="•"/>
        <a:defRPr sz="1200">
          <a:solidFill>
            <a:schemeClr val="tx2"/>
          </a:solidFill>
          <a:latin typeface="+mn-lt"/>
          <a:cs typeface="+mn-cs"/>
        </a:defRPr>
      </a:lvl2pPr>
      <a:lvl3pPr marL="742950" indent="-112713" algn="l" defTabSz="457200" rtl="0" eaLnBrk="0" fontAlgn="base" hangingPunct="0">
        <a:spcBef>
          <a:spcPct val="20000"/>
        </a:spcBef>
        <a:spcAft>
          <a:spcPct val="0"/>
        </a:spcAft>
        <a:buClr>
          <a:srgbClr val="6D6C70"/>
        </a:buClr>
        <a:buFont typeface="Arial" charset="0"/>
        <a:buChar char="•"/>
        <a:defRPr sz="1100">
          <a:solidFill>
            <a:schemeClr val="tx2"/>
          </a:solidFill>
          <a:latin typeface="+mn-lt"/>
          <a:cs typeface="+mn-cs"/>
        </a:defRPr>
      </a:lvl3pPr>
      <a:lvl4pPr marL="968375" indent="-112713" algn="l" defTabSz="457200" rtl="0" eaLnBrk="0" fontAlgn="base" hangingPunct="0">
        <a:spcBef>
          <a:spcPct val="20000"/>
        </a:spcBef>
        <a:spcAft>
          <a:spcPct val="0"/>
        </a:spcAft>
        <a:buClr>
          <a:srgbClr val="ABD274"/>
        </a:buClr>
        <a:buFont typeface="Arial" charset="0"/>
        <a:buChar char="•"/>
        <a:defRPr sz="1000">
          <a:solidFill>
            <a:schemeClr val="tx2"/>
          </a:solidFill>
          <a:latin typeface="+mn-lt"/>
          <a:cs typeface="+mn-cs"/>
        </a:defRPr>
      </a:lvl4pPr>
      <a:lvl5pPr marL="1262063" indent="-122238" algn="l" defTabSz="457200" rtl="0" eaLnBrk="0" fontAlgn="base" hangingPunct="0">
        <a:spcBef>
          <a:spcPct val="20000"/>
        </a:spcBef>
        <a:spcAft>
          <a:spcPct val="0"/>
        </a:spcAft>
        <a:buClr>
          <a:srgbClr val="C5E09D"/>
        </a:buClr>
        <a:buFont typeface="Arial" charset="0"/>
        <a:buChar char="•"/>
        <a:defRPr sz="1000">
          <a:solidFill>
            <a:schemeClr val="tx2"/>
          </a:solidFill>
          <a:latin typeface="+mn-lt"/>
          <a:cs typeface="+mn-cs"/>
        </a:defRPr>
      </a:lvl5pPr>
      <a:lvl6pPr marL="17192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6pPr>
      <a:lvl7pPr marL="21764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7pPr>
      <a:lvl8pPr marL="26336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8pPr>
      <a:lvl9pPr marL="30908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7FD6-B87D-4759-866A-F02BE22E3E16}"/>
              </a:ext>
            </a:extLst>
          </p:cNvPr>
          <p:cNvSpPr>
            <a:spLocks noGrp="1"/>
          </p:cNvSpPr>
          <p:nvPr>
            <p:ph type="title"/>
          </p:nvPr>
        </p:nvSpPr>
        <p:spPr/>
        <p:txBody>
          <a:bodyPr/>
          <a:lstStyle/>
          <a:p>
            <a:r>
              <a:rPr lang="en-US" dirty="0">
                <a:solidFill>
                  <a:schemeClr val="tx1"/>
                </a:solidFill>
                <a:latin typeface="Calibri" panose="020F0502020204030204" pitchFamily="34" charset="0"/>
              </a:rPr>
              <a:t>Technical Training</a:t>
            </a:r>
          </a:p>
        </p:txBody>
      </p:sp>
      <p:sp>
        <p:nvSpPr>
          <p:cNvPr id="3" name="Text Placeholder 2">
            <a:extLst>
              <a:ext uri="{FF2B5EF4-FFF2-40B4-BE49-F238E27FC236}">
                <a16:creationId xmlns:a16="http://schemas.microsoft.com/office/drawing/2014/main" id="{58FC18EE-B803-4326-86A9-673D0E172D1B}"/>
              </a:ext>
            </a:extLst>
          </p:cNvPr>
          <p:cNvSpPr>
            <a:spLocks noGrp="1"/>
          </p:cNvSpPr>
          <p:nvPr>
            <p:ph type="body" sz="quarter" idx="13"/>
          </p:nvPr>
        </p:nvSpPr>
        <p:spPr>
          <a:xfrm>
            <a:off x="382588" y="3007555"/>
            <a:ext cx="5435116" cy="1657209"/>
          </a:xfrm>
        </p:spPr>
        <p:txBody>
          <a:bodyPr>
            <a:normAutofit/>
          </a:bodyPr>
          <a:lstStyle/>
          <a:p>
            <a:r>
              <a:rPr lang="en-US" sz="3000" b="1" dirty="0">
                <a:solidFill>
                  <a:schemeClr val="tx1"/>
                </a:solidFill>
                <a:latin typeface="Calibri" panose="020F0502020204030204" pitchFamily="34" charset="0"/>
              </a:rPr>
              <a:t>Report</a:t>
            </a:r>
          </a:p>
        </p:txBody>
      </p:sp>
      <p:sp>
        <p:nvSpPr>
          <p:cNvPr id="4" name="Text Placeholder 3">
            <a:extLst>
              <a:ext uri="{FF2B5EF4-FFF2-40B4-BE49-F238E27FC236}">
                <a16:creationId xmlns:a16="http://schemas.microsoft.com/office/drawing/2014/main" id="{571C014A-F687-46A9-8CC6-0EA53F9756D0}"/>
              </a:ext>
            </a:extLst>
          </p:cNvPr>
          <p:cNvSpPr>
            <a:spLocks noGrp="1"/>
          </p:cNvSpPr>
          <p:nvPr>
            <p:ph type="body" sz="quarter" idx="14"/>
          </p:nvPr>
        </p:nvSpPr>
        <p:spPr/>
        <p:txBody>
          <a:bodyPr/>
          <a:lstStyle/>
          <a:p>
            <a:endParaRPr lang="en-US" dirty="0"/>
          </a:p>
          <a:p>
            <a:endParaRPr lang="en-US" dirty="0"/>
          </a:p>
        </p:txBody>
      </p:sp>
    </p:spTree>
    <p:extLst>
      <p:ext uri="{BB962C8B-B14F-4D97-AF65-F5344CB8AC3E}">
        <p14:creationId xmlns:p14="http://schemas.microsoft.com/office/powerpoint/2010/main" val="369475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4692BE6-1CB1-4860-A486-66596C10654F}"/>
              </a:ext>
            </a:extLst>
          </p:cNvPr>
          <p:cNvSpPr>
            <a:spLocks noGrp="1" noChangeArrowheads="1"/>
          </p:cNvSpPr>
          <p:nvPr>
            <p:ph type="title"/>
          </p:nvPr>
        </p:nvSpPr>
        <p:spPr/>
        <p:txBody>
          <a:bodyPr/>
          <a:lstStyle/>
          <a:p>
            <a:r>
              <a:rPr lang="en-US" altLang="en-US" b="1" dirty="0">
                <a:solidFill>
                  <a:schemeClr val="tx1"/>
                </a:solidFill>
              </a:rPr>
              <a:t>REPORT DEFINITION</a:t>
            </a:r>
          </a:p>
        </p:txBody>
      </p:sp>
      <p:sp>
        <p:nvSpPr>
          <p:cNvPr id="28675" name="Rectangle 3">
            <a:extLst>
              <a:ext uri="{FF2B5EF4-FFF2-40B4-BE49-F238E27FC236}">
                <a16:creationId xmlns:a16="http://schemas.microsoft.com/office/drawing/2014/main" id="{B8261600-0248-48D5-9BA3-8F5689D00A22}"/>
              </a:ext>
            </a:extLst>
          </p:cNvPr>
          <p:cNvSpPr>
            <a:spLocks noGrp="1" noChangeArrowheads="1"/>
          </p:cNvSpPr>
          <p:nvPr>
            <p:ph type="body" idx="1"/>
          </p:nvPr>
        </p:nvSpPr>
        <p:spPr>
          <a:xfrm>
            <a:off x="381000" y="1335984"/>
            <a:ext cx="8305800" cy="4438650"/>
          </a:xfrm>
        </p:spPr>
        <p:txBody>
          <a:bodyPr/>
          <a:lstStyle/>
          <a:p>
            <a:r>
              <a:rPr lang="en-US" altLang="en-US" sz="2000" dirty="0"/>
              <a:t>The Report Writer tool is used to create reports. However, this is a much more comprehensive tool.</a:t>
            </a:r>
          </a:p>
          <a:p>
            <a:r>
              <a:rPr lang="en-US" altLang="en-US" sz="2000" dirty="0"/>
              <a:t>For example: Mumps programming routines may be accessed externally by reports or embedded directly into reports as processors. </a:t>
            </a:r>
          </a:p>
        </p:txBody>
      </p:sp>
    </p:spTree>
    <p:extLst>
      <p:ext uri="{BB962C8B-B14F-4D97-AF65-F5344CB8AC3E}">
        <p14:creationId xmlns:p14="http://schemas.microsoft.com/office/powerpoint/2010/main" val="146986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055081B-62D1-435A-AF74-343514127549}"/>
              </a:ext>
            </a:extLst>
          </p:cNvPr>
          <p:cNvSpPr>
            <a:spLocks noGrp="1" noChangeArrowheads="1"/>
          </p:cNvSpPr>
          <p:nvPr>
            <p:ph type="title"/>
          </p:nvPr>
        </p:nvSpPr>
        <p:spPr/>
        <p:txBody>
          <a:bodyPr/>
          <a:lstStyle/>
          <a:p>
            <a:r>
              <a:rPr lang="en-US" altLang="en-US"/>
              <a:t>Creating a Report Definition</a:t>
            </a:r>
          </a:p>
        </p:txBody>
      </p:sp>
      <p:sp>
        <p:nvSpPr>
          <p:cNvPr id="29699" name="Rectangle 3">
            <a:extLst>
              <a:ext uri="{FF2B5EF4-FFF2-40B4-BE49-F238E27FC236}">
                <a16:creationId xmlns:a16="http://schemas.microsoft.com/office/drawing/2014/main" id="{AC6C373A-83D5-4C0C-A89F-6518587100F3}"/>
              </a:ext>
            </a:extLst>
          </p:cNvPr>
          <p:cNvSpPr>
            <a:spLocks noGrp="1" noChangeArrowheads="1"/>
          </p:cNvSpPr>
          <p:nvPr>
            <p:ph type="body" idx="1"/>
          </p:nvPr>
        </p:nvSpPr>
        <p:spPr>
          <a:xfrm>
            <a:off x="381000" y="1269724"/>
            <a:ext cx="8305800" cy="4438650"/>
          </a:xfrm>
        </p:spPr>
        <p:txBody>
          <a:bodyPr/>
          <a:lstStyle/>
          <a:p>
            <a:pPr algn="just">
              <a:lnSpc>
                <a:spcPct val="90000"/>
              </a:lnSpc>
            </a:pPr>
            <a:r>
              <a:rPr lang="en-US" altLang="en-US" sz="2000" dirty="0"/>
              <a:t>The following are the steps required to create a Report Definition using the Report Writer:</a:t>
            </a:r>
          </a:p>
          <a:p>
            <a:pPr marL="0" indent="0" algn="just">
              <a:lnSpc>
                <a:spcPct val="90000"/>
              </a:lnSpc>
              <a:buNone/>
            </a:pPr>
            <a:endParaRPr lang="en-US" altLang="en-US" sz="2000" b="1" dirty="0"/>
          </a:p>
          <a:p>
            <a:pPr lvl="1" algn="just">
              <a:lnSpc>
                <a:spcPct val="90000"/>
              </a:lnSpc>
            </a:pPr>
            <a:r>
              <a:rPr lang="en-US" altLang="en-US" sz="2000" dirty="0"/>
              <a:t>Name the report being created (up to 12 char’s)</a:t>
            </a:r>
          </a:p>
          <a:p>
            <a:pPr lvl="1" algn="just">
              <a:lnSpc>
                <a:spcPct val="90000"/>
              </a:lnSpc>
            </a:pPr>
            <a:r>
              <a:rPr lang="en-US" altLang="en-US" sz="2000" dirty="0"/>
              <a:t>Complete the </a:t>
            </a:r>
            <a:r>
              <a:rPr lang="en-US" altLang="en-US" sz="2000" i="1" dirty="0"/>
              <a:t>Report Writer Control Page </a:t>
            </a:r>
            <a:r>
              <a:rPr lang="en-US" altLang="en-US" sz="2000" dirty="0"/>
              <a:t>screen.</a:t>
            </a:r>
          </a:p>
          <a:p>
            <a:pPr lvl="1" algn="just">
              <a:lnSpc>
                <a:spcPct val="90000"/>
              </a:lnSpc>
            </a:pPr>
            <a:r>
              <a:rPr lang="en-US" altLang="en-US" sz="2000" dirty="0"/>
              <a:t>Make any desired changes to the </a:t>
            </a:r>
            <a:r>
              <a:rPr lang="en-US" altLang="en-US" sz="2000" i="1" dirty="0"/>
              <a:t>Report Sequence Definition </a:t>
            </a:r>
            <a:r>
              <a:rPr lang="en-US" altLang="en-US" sz="2000" dirty="0"/>
              <a:t>screen.</a:t>
            </a:r>
          </a:p>
          <a:p>
            <a:pPr lvl="1" algn="just">
              <a:lnSpc>
                <a:spcPct val="90000"/>
              </a:lnSpc>
            </a:pPr>
            <a:r>
              <a:rPr lang="en-US" altLang="en-US" sz="2000" dirty="0"/>
              <a:t>Create and modify the report in the Object Oriented Editor.</a:t>
            </a:r>
          </a:p>
          <a:p>
            <a:pPr lvl="1" algn="just">
              <a:lnSpc>
                <a:spcPct val="90000"/>
              </a:lnSpc>
            </a:pPr>
            <a:r>
              <a:rPr lang="en-US" altLang="en-US" sz="2000" dirty="0"/>
              <a:t>Save the report.</a:t>
            </a:r>
          </a:p>
          <a:p>
            <a:pPr lvl="1" algn="just">
              <a:lnSpc>
                <a:spcPct val="90000"/>
              </a:lnSpc>
            </a:pPr>
            <a:r>
              <a:rPr lang="en-US" altLang="en-US" sz="2000" dirty="0"/>
              <a:t>Compile the report.</a:t>
            </a:r>
          </a:p>
          <a:p>
            <a:pPr lvl="1" algn="just">
              <a:lnSpc>
                <a:spcPct val="90000"/>
              </a:lnSpc>
            </a:pPr>
            <a:r>
              <a:rPr lang="en-US" altLang="en-US" sz="2000" dirty="0"/>
              <a:t>Run the report. </a:t>
            </a:r>
          </a:p>
        </p:txBody>
      </p:sp>
    </p:spTree>
    <p:extLst>
      <p:ext uri="{BB962C8B-B14F-4D97-AF65-F5344CB8AC3E}">
        <p14:creationId xmlns:p14="http://schemas.microsoft.com/office/powerpoint/2010/main" val="53847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08CECA0D-5925-412A-B59C-C9C4928B0200}"/>
              </a:ext>
            </a:extLst>
          </p:cNvPr>
          <p:cNvSpPr>
            <a:spLocks noGrp="1" noChangeArrowheads="1"/>
          </p:cNvSpPr>
          <p:nvPr>
            <p:ph type="title"/>
          </p:nvPr>
        </p:nvSpPr>
        <p:spPr/>
        <p:txBody>
          <a:bodyPr/>
          <a:lstStyle/>
          <a:p>
            <a:r>
              <a:rPr lang="en-US" altLang="en-US" dirty="0"/>
              <a:t>Accessing Report Definition</a:t>
            </a:r>
          </a:p>
        </p:txBody>
      </p:sp>
      <p:sp>
        <p:nvSpPr>
          <p:cNvPr id="132099" name="Rectangle 3">
            <a:extLst>
              <a:ext uri="{FF2B5EF4-FFF2-40B4-BE49-F238E27FC236}">
                <a16:creationId xmlns:a16="http://schemas.microsoft.com/office/drawing/2014/main" id="{85AD326C-3CB5-4A16-83E6-758FD555C44D}"/>
              </a:ext>
            </a:extLst>
          </p:cNvPr>
          <p:cNvSpPr>
            <a:spLocks noGrp="1" noChangeArrowheads="1"/>
          </p:cNvSpPr>
          <p:nvPr>
            <p:ph type="body" idx="1"/>
          </p:nvPr>
        </p:nvSpPr>
        <p:spPr/>
        <p:txBody>
          <a:bodyPr/>
          <a:lstStyle/>
          <a:p>
            <a:r>
              <a:rPr lang="en-US" altLang="en-US" sz="2000" i="1" dirty="0"/>
              <a:t>Report definition access: run a function @850</a:t>
            </a:r>
            <a:endParaRPr lang="en-US" altLang="en-US" sz="2000" dirty="0"/>
          </a:p>
        </p:txBody>
      </p:sp>
      <p:pic>
        <p:nvPicPr>
          <p:cNvPr id="3" name="Picture 2">
            <a:extLst>
              <a:ext uri="{FF2B5EF4-FFF2-40B4-BE49-F238E27FC236}">
                <a16:creationId xmlns:a16="http://schemas.microsoft.com/office/drawing/2014/main" id="{66EAF475-AB8E-44CD-8511-D8864BA6A22F}"/>
              </a:ext>
            </a:extLst>
          </p:cNvPr>
          <p:cNvPicPr>
            <a:picLocks noChangeAspect="1"/>
          </p:cNvPicPr>
          <p:nvPr/>
        </p:nvPicPr>
        <p:blipFill>
          <a:blip r:embed="rId2"/>
          <a:stretch>
            <a:fillRect/>
          </a:stretch>
        </p:blipFill>
        <p:spPr>
          <a:xfrm>
            <a:off x="381000" y="2361175"/>
            <a:ext cx="8496300" cy="3486150"/>
          </a:xfrm>
          <a:prstGeom prst="rect">
            <a:avLst/>
          </a:prstGeom>
        </p:spPr>
      </p:pic>
    </p:spTree>
    <p:extLst>
      <p:ext uri="{BB962C8B-B14F-4D97-AF65-F5344CB8AC3E}">
        <p14:creationId xmlns:p14="http://schemas.microsoft.com/office/powerpoint/2010/main" val="285383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08CECA0D-5925-412A-B59C-C9C4928B0200}"/>
              </a:ext>
            </a:extLst>
          </p:cNvPr>
          <p:cNvSpPr>
            <a:spLocks noGrp="1" noChangeArrowheads="1"/>
          </p:cNvSpPr>
          <p:nvPr>
            <p:ph type="title"/>
          </p:nvPr>
        </p:nvSpPr>
        <p:spPr/>
        <p:txBody>
          <a:bodyPr/>
          <a:lstStyle/>
          <a:p>
            <a:r>
              <a:rPr lang="en-US" altLang="en-US" dirty="0"/>
              <a:t>Accessing Report Definition</a:t>
            </a:r>
          </a:p>
        </p:txBody>
      </p:sp>
      <p:sp>
        <p:nvSpPr>
          <p:cNvPr id="132099" name="Rectangle 3">
            <a:extLst>
              <a:ext uri="{FF2B5EF4-FFF2-40B4-BE49-F238E27FC236}">
                <a16:creationId xmlns:a16="http://schemas.microsoft.com/office/drawing/2014/main" id="{85AD326C-3CB5-4A16-83E6-758FD555C44D}"/>
              </a:ext>
            </a:extLst>
          </p:cNvPr>
          <p:cNvSpPr>
            <a:spLocks noGrp="1" noChangeArrowheads="1"/>
          </p:cNvSpPr>
          <p:nvPr>
            <p:ph type="body" idx="1"/>
          </p:nvPr>
        </p:nvSpPr>
        <p:spPr/>
        <p:txBody>
          <a:bodyPr/>
          <a:lstStyle/>
          <a:p>
            <a:r>
              <a:rPr lang="en-IN" sz="2000" dirty="0"/>
              <a:t>The following table shows the Report Definition maintenance functions by function ID (these may be entered from any menu)</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p:txBody>
      </p:sp>
      <p:graphicFrame>
        <p:nvGraphicFramePr>
          <p:cNvPr id="5" name="Table 4">
            <a:extLst>
              <a:ext uri="{FF2B5EF4-FFF2-40B4-BE49-F238E27FC236}">
                <a16:creationId xmlns:a16="http://schemas.microsoft.com/office/drawing/2014/main" id="{173BC99E-1580-43FB-ADEE-67FEE9932051}"/>
              </a:ext>
            </a:extLst>
          </p:cNvPr>
          <p:cNvGraphicFramePr>
            <a:graphicFrameLocks noGrp="1"/>
          </p:cNvGraphicFramePr>
          <p:nvPr>
            <p:extLst>
              <p:ext uri="{D42A27DB-BD31-4B8C-83A1-F6EECF244321}">
                <p14:modId xmlns:p14="http://schemas.microsoft.com/office/powerpoint/2010/main" val="2715809837"/>
              </p:ext>
            </p:extLst>
          </p:nvPr>
        </p:nvGraphicFramePr>
        <p:xfrm>
          <a:off x="1398104" y="2657722"/>
          <a:ext cx="5078896" cy="2853099"/>
        </p:xfrm>
        <a:graphic>
          <a:graphicData uri="http://schemas.openxmlformats.org/drawingml/2006/table">
            <a:tbl>
              <a:tblPr firstRow="1" firstCol="1" bandRow="1" bandCol="1">
                <a:tableStyleId>{5C22544A-7EE6-4342-B048-85BDC9FD1C3A}</a:tableStyleId>
              </a:tblPr>
              <a:tblGrid>
                <a:gridCol w="3470579">
                  <a:extLst>
                    <a:ext uri="{9D8B030D-6E8A-4147-A177-3AD203B41FA5}">
                      <a16:colId xmlns:a16="http://schemas.microsoft.com/office/drawing/2014/main" val="2259758353"/>
                    </a:ext>
                  </a:extLst>
                </a:gridCol>
                <a:gridCol w="1608317">
                  <a:extLst>
                    <a:ext uri="{9D8B030D-6E8A-4147-A177-3AD203B41FA5}">
                      <a16:colId xmlns:a16="http://schemas.microsoft.com/office/drawing/2014/main" val="2463362850"/>
                    </a:ext>
                  </a:extLst>
                </a:gridCol>
              </a:tblGrid>
              <a:tr h="317011">
                <a:tc>
                  <a:txBody>
                    <a:bodyPr/>
                    <a:lstStyle/>
                    <a:p>
                      <a:pPr hangingPunct="0">
                        <a:spcBef>
                          <a:spcPts val="300"/>
                        </a:spcBef>
                        <a:spcAft>
                          <a:spcPts val="300"/>
                        </a:spcAft>
                      </a:pPr>
                      <a:r>
                        <a:rPr lang="en-US" sz="1800" kern="1200" dirty="0">
                          <a:effectLst/>
                        </a:rPr>
                        <a:t>Description</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hangingPunct="0">
                        <a:spcBef>
                          <a:spcPts val="300"/>
                        </a:spcBef>
                        <a:spcAft>
                          <a:spcPts val="300"/>
                        </a:spcAft>
                      </a:pPr>
                      <a:r>
                        <a:rPr lang="en-US" sz="1800" kern="1200">
                          <a:effectLst/>
                        </a:rPr>
                        <a:t>Function ID</a:t>
                      </a:r>
                      <a:endParaRPr lang="en-IN" sz="1800" kern="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80235650"/>
                  </a:ext>
                </a:extLst>
              </a:tr>
              <a:tr h="317011">
                <a:tc>
                  <a:txBody>
                    <a:bodyPr/>
                    <a:lstStyle/>
                    <a:p>
                      <a:pPr hangingPunct="0">
                        <a:spcBef>
                          <a:spcPts val="300"/>
                        </a:spcBef>
                        <a:spcAft>
                          <a:spcPts val="300"/>
                        </a:spcAft>
                      </a:pPr>
                      <a:r>
                        <a:rPr lang="en-US" sz="1800" kern="1200" dirty="0">
                          <a:effectLst/>
                        </a:rPr>
                        <a:t>Create  Report Definition</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hangingPunct="0">
                        <a:spcBef>
                          <a:spcPts val="300"/>
                        </a:spcBef>
                        <a:spcAft>
                          <a:spcPts val="300"/>
                        </a:spcAft>
                      </a:pPr>
                      <a:r>
                        <a:rPr lang="en-US" sz="1800" kern="1200" dirty="0">
                          <a:effectLst/>
                        </a:rPr>
                        <a:t>DBSEXEC</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85235158"/>
                  </a:ext>
                </a:extLst>
              </a:tr>
              <a:tr h="317011">
                <a:tc>
                  <a:txBody>
                    <a:bodyPr/>
                    <a:lstStyle/>
                    <a:p>
                      <a:pPr hangingPunct="0">
                        <a:spcBef>
                          <a:spcPts val="300"/>
                        </a:spcBef>
                        <a:spcAft>
                          <a:spcPts val="300"/>
                        </a:spcAft>
                      </a:pPr>
                      <a:r>
                        <a:rPr lang="en-US" sz="1800" kern="1200" dirty="0">
                          <a:effectLst/>
                        </a:rPr>
                        <a:t>Modify Report Definition</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hangingPunct="0">
                        <a:spcBef>
                          <a:spcPts val="300"/>
                        </a:spcBef>
                        <a:spcAft>
                          <a:spcPts val="300"/>
                        </a:spcAft>
                      </a:pPr>
                      <a:r>
                        <a:rPr lang="en-US" sz="1800" kern="1200" dirty="0">
                          <a:effectLst/>
                        </a:rPr>
                        <a:t>DBSEXEM</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02873570"/>
                  </a:ext>
                </a:extLst>
              </a:tr>
              <a:tr h="317011">
                <a:tc>
                  <a:txBody>
                    <a:bodyPr/>
                    <a:lstStyle/>
                    <a:p>
                      <a:pPr hangingPunct="0">
                        <a:spcBef>
                          <a:spcPts val="300"/>
                        </a:spcBef>
                        <a:spcAft>
                          <a:spcPts val="300"/>
                        </a:spcAft>
                      </a:pPr>
                      <a:r>
                        <a:rPr lang="en-US" sz="1800" kern="1200" dirty="0">
                          <a:effectLst/>
                        </a:rPr>
                        <a:t>List Report Definition</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hangingPunct="0">
                        <a:spcBef>
                          <a:spcPts val="300"/>
                        </a:spcBef>
                        <a:spcAft>
                          <a:spcPts val="300"/>
                        </a:spcAft>
                      </a:pPr>
                      <a:r>
                        <a:rPr lang="en-US" sz="1800" kern="1200" dirty="0">
                          <a:effectLst/>
                        </a:rPr>
                        <a:t>DBSEXEL</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47740488"/>
                  </a:ext>
                </a:extLst>
              </a:tr>
              <a:tr h="317011">
                <a:tc>
                  <a:txBody>
                    <a:bodyPr/>
                    <a:lstStyle/>
                    <a:p>
                      <a:pPr hangingPunct="0">
                        <a:spcBef>
                          <a:spcPts val="300"/>
                        </a:spcBef>
                        <a:spcAft>
                          <a:spcPts val="300"/>
                        </a:spcAft>
                      </a:pPr>
                      <a:r>
                        <a:rPr lang="en-US" sz="1800" kern="1200" dirty="0">
                          <a:effectLst/>
                        </a:rPr>
                        <a:t>Delete Report Definition</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hangingPunct="0">
                        <a:spcBef>
                          <a:spcPts val="300"/>
                        </a:spcBef>
                        <a:spcAft>
                          <a:spcPts val="300"/>
                        </a:spcAft>
                      </a:pPr>
                      <a:r>
                        <a:rPr lang="en-US" sz="1800" kern="1200" dirty="0">
                          <a:effectLst/>
                        </a:rPr>
                        <a:t>DBSEXED</a:t>
                      </a:r>
                      <a:endParaRPr lang="en-IN" sz="1800" kern="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67236787"/>
                  </a:ext>
                </a:extLst>
              </a:tr>
              <a:tr h="317011">
                <a:tc>
                  <a:txBody>
                    <a:bodyPr/>
                    <a:lstStyle/>
                    <a:p>
                      <a:pPr hangingPunct="0">
                        <a:spcBef>
                          <a:spcPts val="300"/>
                        </a:spcBef>
                        <a:spcAft>
                          <a:spcPts val="300"/>
                        </a:spcAft>
                      </a:pPr>
                      <a:r>
                        <a:rPr lang="en-US" altLang="en-US" sz="1800" b="1" kern="1200" dirty="0">
                          <a:solidFill>
                            <a:schemeClr val="lt1"/>
                          </a:solidFill>
                          <a:latin typeface="+mn-lt"/>
                          <a:ea typeface="+mn-ea"/>
                          <a:cs typeface="+mn-cs"/>
                        </a:rPr>
                        <a:t>Copy Report Definition</a:t>
                      </a:r>
                      <a:endParaRPr lang="en-IN" sz="1800" b="1" kern="1200" dirty="0">
                        <a:solidFill>
                          <a:schemeClr val="lt1"/>
                        </a:solidFill>
                        <a:latin typeface="+mn-lt"/>
                        <a:ea typeface="+mn-ea"/>
                        <a:cs typeface="+mn-cs"/>
                      </a:endParaRPr>
                    </a:p>
                  </a:txBody>
                  <a:tcPr marL="68580" marR="68580" marT="0" marB="0"/>
                </a:tc>
                <a:tc>
                  <a:txBody>
                    <a:bodyPr/>
                    <a:lstStyle/>
                    <a:p>
                      <a:pPr hangingPunct="0">
                        <a:spcBef>
                          <a:spcPts val="300"/>
                        </a:spcBef>
                        <a:spcAft>
                          <a:spcPts val="300"/>
                        </a:spcAft>
                      </a:pPr>
                      <a:r>
                        <a:rPr lang="en-US" altLang="en-US" sz="1800" b="0" kern="1200" dirty="0">
                          <a:solidFill>
                            <a:schemeClr val="tx1"/>
                          </a:solidFill>
                          <a:latin typeface="+mn-lt"/>
                          <a:ea typeface="+mn-ea"/>
                          <a:cs typeface="+mn-cs"/>
                        </a:rPr>
                        <a:t>DBSEXECO</a:t>
                      </a:r>
                      <a:endParaRPr lang="en-IN" sz="1800" b="0" kern="1200" dirty="0">
                        <a:solidFill>
                          <a:schemeClr val="tx1"/>
                        </a:solidFill>
                        <a:latin typeface="+mn-lt"/>
                        <a:ea typeface="+mn-ea"/>
                        <a:cs typeface="+mn-cs"/>
                      </a:endParaRPr>
                    </a:p>
                  </a:txBody>
                  <a:tcPr marL="68580" marR="68580" marT="0" marB="0"/>
                </a:tc>
                <a:extLst>
                  <a:ext uri="{0D108BD9-81ED-4DB2-BD59-A6C34878D82A}">
                    <a16:rowId xmlns:a16="http://schemas.microsoft.com/office/drawing/2014/main" val="284375811"/>
                  </a:ext>
                </a:extLst>
              </a:tr>
              <a:tr h="317011">
                <a:tc>
                  <a:txBody>
                    <a:bodyPr/>
                    <a:lstStyle/>
                    <a:p>
                      <a:pPr hangingPunct="0">
                        <a:spcBef>
                          <a:spcPts val="300"/>
                        </a:spcBef>
                        <a:spcAft>
                          <a:spcPts val="300"/>
                        </a:spcAft>
                      </a:pPr>
                      <a:r>
                        <a:rPr lang="en-IN" sz="1800" b="1" kern="1200" dirty="0">
                          <a:solidFill>
                            <a:schemeClr val="lt1"/>
                          </a:solidFill>
                          <a:latin typeface="+mn-lt"/>
                          <a:ea typeface="+mn-ea"/>
                          <a:cs typeface="+mn-cs"/>
                        </a:rPr>
                        <a:t>Build Run-time Report</a:t>
                      </a:r>
                    </a:p>
                  </a:txBody>
                  <a:tcPr marL="68580" marR="68580" marT="0" marB="0"/>
                </a:tc>
                <a:tc>
                  <a:txBody>
                    <a:bodyPr/>
                    <a:lstStyle/>
                    <a:p>
                      <a:pPr hangingPunct="0">
                        <a:spcBef>
                          <a:spcPts val="300"/>
                        </a:spcBef>
                        <a:spcAft>
                          <a:spcPts val="300"/>
                        </a:spcAft>
                      </a:pPr>
                      <a:r>
                        <a:rPr lang="en-IN" sz="1800" b="0" kern="1200" dirty="0">
                          <a:solidFill>
                            <a:schemeClr val="tx1"/>
                          </a:solidFill>
                          <a:latin typeface="+mn-lt"/>
                          <a:ea typeface="+mn-ea"/>
                          <a:cs typeface="+mn-cs"/>
                        </a:rPr>
                        <a:t>DBSEXEB</a:t>
                      </a:r>
                    </a:p>
                  </a:txBody>
                  <a:tcPr marL="68580" marR="68580" marT="0" marB="0"/>
                </a:tc>
                <a:extLst>
                  <a:ext uri="{0D108BD9-81ED-4DB2-BD59-A6C34878D82A}">
                    <a16:rowId xmlns:a16="http://schemas.microsoft.com/office/drawing/2014/main" val="1757450676"/>
                  </a:ext>
                </a:extLst>
              </a:tr>
              <a:tr h="317011">
                <a:tc>
                  <a:txBody>
                    <a:bodyPr/>
                    <a:lstStyle/>
                    <a:p>
                      <a:pPr hangingPunct="0">
                        <a:spcBef>
                          <a:spcPts val="300"/>
                        </a:spcBef>
                        <a:spcAft>
                          <a:spcPts val="300"/>
                        </a:spcAft>
                      </a:pPr>
                      <a:r>
                        <a:rPr lang="en-IN" sz="1800" b="1" kern="1200" dirty="0">
                          <a:solidFill>
                            <a:schemeClr val="lt1"/>
                          </a:solidFill>
                          <a:latin typeface="+mn-lt"/>
                          <a:ea typeface="+mn-ea"/>
                          <a:cs typeface="+mn-cs"/>
                        </a:rPr>
                        <a:t>Run Report</a:t>
                      </a:r>
                    </a:p>
                  </a:txBody>
                  <a:tcPr marL="68580" marR="68580" marT="0" marB="0"/>
                </a:tc>
                <a:tc>
                  <a:txBody>
                    <a:bodyPr/>
                    <a:lstStyle/>
                    <a:p>
                      <a:pPr hangingPunct="0">
                        <a:spcBef>
                          <a:spcPts val="300"/>
                        </a:spcBef>
                        <a:spcAft>
                          <a:spcPts val="300"/>
                        </a:spcAft>
                      </a:pPr>
                      <a:r>
                        <a:rPr lang="en-IN" sz="1800" b="0" kern="1200" dirty="0">
                          <a:solidFill>
                            <a:schemeClr val="tx1"/>
                          </a:solidFill>
                          <a:latin typeface="+mn-lt"/>
                          <a:ea typeface="+mn-ea"/>
                          <a:cs typeface="+mn-cs"/>
                        </a:rPr>
                        <a:t>DBSEXER</a:t>
                      </a:r>
                    </a:p>
                  </a:txBody>
                  <a:tcPr marL="68580" marR="68580" marT="0" marB="0"/>
                </a:tc>
                <a:extLst>
                  <a:ext uri="{0D108BD9-81ED-4DB2-BD59-A6C34878D82A}">
                    <a16:rowId xmlns:a16="http://schemas.microsoft.com/office/drawing/2014/main" val="1898764655"/>
                  </a:ext>
                </a:extLst>
              </a:tr>
              <a:tr h="317011">
                <a:tc>
                  <a:txBody>
                    <a:bodyPr/>
                    <a:lstStyle/>
                    <a:p>
                      <a:pPr hangingPunct="0">
                        <a:spcBef>
                          <a:spcPts val="300"/>
                        </a:spcBef>
                        <a:spcAft>
                          <a:spcPts val="300"/>
                        </a:spcAft>
                      </a:pPr>
                      <a:r>
                        <a:rPr lang="en-IN" sz="1800" b="1" kern="1200" dirty="0">
                          <a:solidFill>
                            <a:schemeClr val="lt1"/>
                          </a:solidFill>
                          <a:latin typeface="+mn-lt"/>
                          <a:ea typeface="+mn-ea"/>
                          <a:cs typeface="+mn-cs"/>
                        </a:rPr>
                        <a:t>Create Report Writer Function</a:t>
                      </a:r>
                    </a:p>
                  </a:txBody>
                  <a:tcPr marL="68580" marR="68580" marT="0" marB="0"/>
                </a:tc>
                <a:tc>
                  <a:txBody>
                    <a:bodyPr/>
                    <a:lstStyle/>
                    <a:p>
                      <a:pPr hangingPunct="0">
                        <a:spcBef>
                          <a:spcPts val="300"/>
                        </a:spcBef>
                        <a:spcAft>
                          <a:spcPts val="300"/>
                        </a:spcAft>
                      </a:pPr>
                      <a:r>
                        <a:rPr lang="en-IN" sz="1800" b="0" kern="1200" dirty="0">
                          <a:solidFill>
                            <a:schemeClr val="tx1"/>
                          </a:solidFill>
                          <a:latin typeface="+mn-lt"/>
                          <a:ea typeface="+mn-ea"/>
                          <a:cs typeface="+mn-cs"/>
                        </a:rPr>
                        <a:t>DBSEXEFN</a:t>
                      </a:r>
                    </a:p>
                  </a:txBody>
                  <a:tcPr marL="68580" marR="68580" marT="0" marB="0"/>
                </a:tc>
                <a:extLst>
                  <a:ext uri="{0D108BD9-81ED-4DB2-BD59-A6C34878D82A}">
                    <a16:rowId xmlns:a16="http://schemas.microsoft.com/office/drawing/2014/main" val="4162434819"/>
                  </a:ext>
                </a:extLst>
              </a:tr>
            </a:tbl>
          </a:graphicData>
        </a:graphic>
      </p:graphicFrame>
    </p:spTree>
    <p:extLst>
      <p:ext uri="{BB962C8B-B14F-4D97-AF65-F5344CB8AC3E}">
        <p14:creationId xmlns:p14="http://schemas.microsoft.com/office/powerpoint/2010/main" val="564560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51AEA3E-0E36-48C3-A51E-D1A07924AF77}"/>
              </a:ext>
            </a:extLst>
          </p:cNvPr>
          <p:cNvSpPr>
            <a:spLocks noGrp="1" noChangeArrowheads="1"/>
          </p:cNvSpPr>
          <p:nvPr>
            <p:ph type="title"/>
          </p:nvPr>
        </p:nvSpPr>
        <p:spPr/>
        <p:txBody>
          <a:bodyPr/>
          <a:lstStyle/>
          <a:p>
            <a:r>
              <a:rPr lang="en-US" altLang="en-US"/>
              <a:t>Creating a Report</a:t>
            </a:r>
          </a:p>
        </p:txBody>
      </p:sp>
      <p:pic>
        <p:nvPicPr>
          <p:cNvPr id="7" name="Picture 6">
            <a:extLst>
              <a:ext uri="{FF2B5EF4-FFF2-40B4-BE49-F238E27FC236}">
                <a16:creationId xmlns:a16="http://schemas.microsoft.com/office/drawing/2014/main" id="{1EB7DBA1-63BD-491F-A7D6-CE724DD05D7C}"/>
              </a:ext>
            </a:extLst>
          </p:cNvPr>
          <p:cNvPicPr>
            <a:picLocks noChangeAspect="1"/>
          </p:cNvPicPr>
          <p:nvPr/>
        </p:nvPicPr>
        <p:blipFill>
          <a:blip r:embed="rId2"/>
          <a:stretch>
            <a:fillRect/>
          </a:stretch>
        </p:blipFill>
        <p:spPr>
          <a:xfrm>
            <a:off x="541268" y="1223548"/>
            <a:ext cx="8086789" cy="4368869"/>
          </a:xfrm>
          <a:prstGeom prst="rect">
            <a:avLst/>
          </a:prstGeom>
        </p:spPr>
      </p:pic>
    </p:spTree>
    <p:extLst>
      <p:ext uri="{BB962C8B-B14F-4D97-AF65-F5344CB8AC3E}">
        <p14:creationId xmlns:p14="http://schemas.microsoft.com/office/powerpoint/2010/main" val="4268068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A7CFF8F-3612-41FC-A849-002933878E2F}"/>
              </a:ext>
            </a:extLst>
          </p:cNvPr>
          <p:cNvSpPr>
            <a:spLocks noGrp="1" noChangeArrowheads="1"/>
          </p:cNvSpPr>
          <p:nvPr>
            <p:ph type="title"/>
          </p:nvPr>
        </p:nvSpPr>
        <p:spPr/>
        <p:txBody>
          <a:bodyPr/>
          <a:lstStyle/>
          <a:p>
            <a:r>
              <a:rPr lang="en-US" altLang="en-US"/>
              <a:t>Creating a Report</a:t>
            </a:r>
          </a:p>
        </p:txBody>
      </p:sp>
      <p:sp>
        <p:nvSpPr>
          <p:cNvPr id="31747" name="Rectangle 3">
            <a:extLst>
              <a:ext uri="{FF2B5EF4-FFF2-40B4-BE49-F238E27FC236}">
                <a16:creationId xmlns:a16="http://schemas.microsoft.com/office/drawing/2014/main" id="{119580FB-3048-496E-B97D-F53DD6F70FF7}"/>
              </a:ext>
            </a:extLst>
          </p:cNvPr>
          <p:cNvSpPr>
            <a:spLocks noGrp="1" noChangeArrowheads="1"/>
          </p:cNvSpPr>
          <p:nvPr>
            <p:ph type="body" idx="1"/>
          </p:nvPr>
        </p:nvSpPr>
        <p:spPr>
          <a:xfrm>
            <a:off x="381000" y="1150455"/>
            <a:ext cx="8305800" cy="4438650"/>
          </a:xfrm>
        </p:spPr>
        <p:txBody>
          <a:bodyPr/>
          <a:lstStyle/>
          <a:p>
            <a:pPr marL="609600" indent="-609600" algn="just">
              <a:lnSpc>
                <a:spcPct val="80000"/>
              </a:lnSpc>
              <a:spcBef>
                <a:spcPts val="600"/>
              </a:spcBef>
              <a:spcAft>
                <a:spcPts val="600"/>
              </a:spcAft>
            </a:pPr>
            <a:r>
              <a:rPr lang="en-US" altLang="en-US" sz="2000" i="1" dirty="0"/>
              <a:t>Description - </a:t>
            </a:r>
            <a:r>
              <a:rPr lang="en-US" altLang="en-US" sz="2000" dirty="0"/>
              <a:t>Enter up to 40 characters that will identify the report. The description the user enters here will appear in the standard report header and on lists of reports.</a:t>
            </a:r>
            <a:endParaRPr lang="en-US" altLang="en-US" sz="2000" i="1" dirty="0"/>
          </a:p>
          <a:p>
            <a:pPr marL="609600" indent="-609600" algn="just">
              <a:lnSpc>
                <a:spcPct val="80000"/>
              </a:lnSpc>
              <a:spcBef>
                <a:spcPts val="600"/>
              </a:spcBef>
              <a:spcAft>
                <a:spcPts val="600"/>
              </a:spcAft>
            </a:pPr>
            <a:r>
              <a:rPr lang="en-US" altLang="en-US" sz="2000" i="1" dirty="0"/>
              <a:t>Program</a:t>
            </a:r>
            <a:r>
              <a:rPr lang="en-US" altLang="en-US" sz="2000" dirty="0"/>
              <a:t> - The name of the compiled run-time program for this report. This will be blank until the report is compiled. </a:t>
            </a:r>
          </a:p>
          <a:p>
            <a:pPr marL="609600" indent="-609600" algn="just">
              <a:lnSpc>
                <a:spcPct val="80000"/>
              </a:lnSpc>
              <a:spcBef>
                <a:spcPts val="600"/>
              </a:spcBef>
              <a:spcAft>
                <a:spcPts val="600"/>
              </a:spcAft>
            </a:pPr>
            <a:r>
              <a:rPr lang="en-US" altLang="en-US" sz="2000" dirty="0"/>
              <a:t>Access Files - The files to be used for the report.  To use more than one file, first enter the name of the PRIMARY file, next enter the name or names of secondary files. Separate file names with commas.</a:t>
            </a:r>
          </a:p>
          <a:p>
            <a:pPr marL="990600" lvl="1" indent="-533400" algn="just">
              <a:lnSpc>
                <a:spcPct val="80000"/>
              </a:lnSpc>
              <a:spcBef>
                <a:spcPts val="600"/>
              </a:spcBef>
              <a:spcAft>
                <a:spcPts val="600"/>
              </a:spcAft>
            </a:pPr>
            <a:r>
              <a:rPr lang="en-US" altLang="en-US" sz="2000" dirty="0"/>
              <a:t>The Access Key of a secondary file must be an Access Key or Data Item in the primary file or in a preceding secondary file for a valid primary/secondary file relationship. The system will verify the primary/secondary file relationship. If the relationship is not valid, one of the following error messages will display:</a:t>
            </a:r>
          </a:p>
          <a:p>
            <a:pPr marL="609600" indent="-609600" algn="just">
              <a:lnSpc>
                <a:spcPct val="80000"/>
              </a:lnSpc>
              <a:spcBef>
                <a:spcPts val="600"/>
              </a:spcBef>
              <a:spcAft>
                <a:spcPts val="600"/>
              </a:spcAft>
            </a:pPr>
            <a:r>
              <a:rPr lang="en-US" altLang="en-US" sz="2000" dirty="0"/>
              <a:t>Report Width - Establishes whether the report is displayed in the 80-column mode, or the 132-column (compressed) mode when it is displayed on the screen. Enter 132 to display the report the compressed mode.</a:t>
            </a:r>
          </a:p>
        </p:txBody>
      </p:sp>
    </p:spTree>
    <p:extLst>
      <p:ext uri="{BB962C8B-B14F-4D97-AF65-F5344CB8AC3E}">
        <p14:creationId xmlns:p14="http://schemas.microsoft.com/office/powerpoint/2010/main" val="2795344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810B173-C551-408B-B331-5B51419A8EDE}"/>
              </a:ext>
            </a:extLst>
          </p:cNvPr>
          <p:cNvSpPr>
            <a:spLocks noGrp="1" noChangeArrowheads="1"/>
          </p:cNvSpPr>
          <p:nvPr>
            <p:ph type="title"/>
          </p:nvPr>
        </p:nvSpPr>
        <p:spPr/>
        <p:txBody>
          <a:bodyPr/>
          <a:lstStyle/>
          <a:p>
            <a:r>
              <a:rPr lang="en-US" altLang="en-US"/>
              <a:t>Creating Reports (cont.)</a:t>
            </a:r>
          </a:p>
        </p:txBody>
      </p:sp>
      <p:sp>
        <p:nvSpPr>
          <p:cNvPr id="32771" name="Rectangle 3">
            <a:extLst>
              <a:ext uri="{FF2B5EF4-FFF2-40B4-BE49-F238E27FC236}">
                <a16:creationId xmlns:a16="http://schemas.microsoft.com/office/drawing/2014/main" id="{614C73AE-B70E-4D43-9D43-11F43E23199B}"/>
              </a:ext>
            </a:extLst>
          </p:cNvPr>
          <p:cNvSpPr>
            <a:spLocks noGrp="1" noChangeArrowheads="1"/>
          </p:cNvSpPr>
          <p:nvPr>
            <p:ph type="body" idx="1"/>
          </p:nvPr>
        </p:nvSpPr>
        <p:spPr>
          <a:xfrm>
            <a:off x="381000" y="1269724"/>
            <a:ext cx="8305800" cy="4438650"/>
          </a:xfrm>
        </p:spPr>
        <p:txBody>
          <a:bodyPr/>
          <a:lstStyle/>
          <a:p>
            <a:pPr marL="609600" indent="-609600" algn="just">
              <a:lnSpc>
                <a:spcPct val="80000"/>
              </a:lnSpc>
              <a:spcBef>
                <a:spcPts val="600"/>
              </a:spcBef>
              <a:spcAft>
                <a:spcPts val="600"/>
              </a:spcAft>
            </a:pPr>
            <a:r>
              <a:rPr lang="en-US" altLang="en-US" sz="2000" dirty="0"/>
              <a:t>Page Size: - The length of the page in number of lines.  A page break will be inserted after this number of lines. For NO PAGE BREAK (such as a report that will be copied to a tape), enter 99999999.  Default = 60.</a:t>
            </a:r>
          </a:p>
          <a:p>
            <a:pPr marL="609600" indent="-609600" algn="just">
              <a:lnSpc>
                <a:spcPct val="80000"/>
              </a:lnSpc>
              <a:spcBef>
                <a:spcPts val="600"/>
              </a:spcBef>
              <a:spcAft>
                <a:spcPts val="600"/>
              </a:spcAft>
            </a:pPr>
            <a:r>
              <a:rPr lang="en-US" altLang="en-US" sz="2000" dirty="0"/>
              <a:t>Banner Page - A logical field: Y - Print a banner page before the report. The banner page includes a summary of the Report Definition and details about the print run such as User ID, date, and time.  An Institution Variable Data Item to print banner pages must also be set to YES for banner pages to print.</a:t>
            </a:r>
          </a:p>
          <a:p>
            <a:pPr marL="990600" lvl="1" indent="-533400" algn="just">
              <a:lnSpc>
                <a:spcPct val="80000"/>
              </a:lnSpc>
              <a:spcBef>
                <a:spcPts val="600"/>
              </a:spcBef>
              <a:spcAft>
                <a:spcPts val="600"/>
              </a:spcAft>
            </a:pPr>
            <a:r>
              <a:rPr lang="en-US" altLang="en-US" sz="2000" dirty="0"/>
              <a:t>N - Does not print a banner page. First page printed is the first page of the report. </a:t>
            </a:r>
          </a:p>
          <a:p>
            <a:pPr marL="609600" indent="-609600" algn="just">
              <a:lnSpc>
                <a:spcPct val="80000"/>
              </a:lnSpc>
              <a:spcBef>
                <a:spcPts val="600"/>
              </a:spcBef>
              <a:spcAft>
                <a:spcPts val="600"/>
              </a:spcAft>
            </a:pPr>
            <a:r>
              <a:rPr lang="en-US" altLang="en-US" sz="2000" i="1" dirty="0"/>
              <a:t>Version</a:t>
            </a:r>
            <a:r>
              <a:rPr lang="en-US" altLang="en-US" sz="2000" dirty="0"/>
              <a:t> - This is an optional field for entering the version of the software. It is used for informational purposes only </a:t>
            </a:r>
          </a:p>
        </p:txBody>
      </p:sp>
    </p:spTree>
    <p:extLst>
      <p:ext uri="{BB962C8B-B14F-4D97-AF65-F5344CB8AC3E}">
        <p14:creationId xmlns:p14="http://schemas.microsoft.com/office/powerpoint/2010/main" val="416539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BE482F3-6AD2-4BD8-A7AE-5C25FEFCB244}"/>
              </a:ext>
            </a:extLst>
          </p:cNvPr>
          <p:cNvSpPr>
            <a:spLocks noGrp="1" noChangeArrowheads="1"/>
          </p:cNvSpPr>
          <p:nvPr>
            <p:ph type="title"/>
          </p:nvPr>
        </p:nvSpPr>
        <p:spPr/>
        <p:txBody>
          <a:bodyPr/>
          <a:lstStyle/>
          <a:p>
            <a:r>
              <a:rPr lang="en-US" altLang="en-US"/>
              <a:t>Creating Reports (cont.)</a:t>
            </a:r>
          </a:p>
        </p:txBody>
      </p:sp>
      <p:sp>
        <p:nvSpPr>
          <p:cNvPr id="33795" name="Rectangle 3">
            <a:extLst>
              <a:ext uri="{FF2B5EF4-FFF2-40B4-BE49-F238E27FC236}">
                <a16:creationId xmlns:a16="http://schemas.microsoft.com/office/drawing/2014/main" id="{7C4F75EB-50CC-45A0-BA1A-FFC9C2725A48}"/>
              </a:ext>
            </a:extLst>
          </p:cNvPr>
          <p:cNvSpPr>
            <a:spLocks noGrp="1" noChangeArrowheads="1"/>
          </p:cNvSpPr>
          <p:nvPr>
            <p:ph type="body" idx="1"/>
          </p:nvPr>
        </p:nvSpPr>
        <p:spPr>
          <a:xfrm>
            <a:off x="381000" y="1176959"/>
            <a:ext cx="8305800" cy="4438650"/>
          </a:xfrm>
        </p:spPr>
        <p:txBody>
          <a:bodyPr/>
          <a:lstStyle/>
          <a:p>
            <a:pPr marL="609600" indent="-609600" algn="just">
              <a:lnSpc>
                <a:spcPct val="80000"/>
              </a:lnSpc>
              <a:spcBef>
                <a:spcPts val="600"/>
              </a:spcBef>
              <a:spcAft>
                <a:spcPts val="600"/>
              </a:spcAft>
            </a:pPr>
            <a:r>
              <a:rPr lang="en-US" altLang="en-US" sz="2000" dirty="0"/>
              <a:t>Fixed Length: - A logical field: </a:t>
            </a:r>
          </a:p>
          <a:p>
            <a:pPr marL="990600" lvl="1" indent="-533400" algn="just">
              <a:lnSpc>
                <a:spcPct val="80000"/>
              </a:lnSpc>
              <a:spcBef>
                <a:spcPts val="600"/>
              </a:spcBef>
              <a:spcAft>
                <a:spcPts val="600"/>
              </a:spcAft>
            </a:pPr>
            <a:r>
              <a:rPr lang="en-US" altLang="en-US" sz="2000" dirty="0"/>
              <a:t>N - For standard columnar reports in which numeric data is right aligned and text data is left aligned.</a:t>
            </a:r>
          </a:p>
          <a:p>
            <a:pPr marL="990600" lvl="1" indent="-533400" algn="just">
              <a:lnSpc>
                <a:spcPct val="80000"/>
              </a:lnSpc>
              <a:spcBef>
                <a:spcPts val="600"/>
              </a:spcBef>
              <a:spcAft>
                <a:spcPts val="600"/>
              </a:spcAft>
            </a:pPr>
            <a:r>
              <a:rPr lang="en-US" altLang="en-US" sz="2000" dirty="0"/>
              <a:t>Y - For a report that uses data in a fixed-length format.  This field is used for reports that will be copied to tape.  This option will pad each record with spaces to make the record length equal to the value in the REPORT WIDTH field. The fixed-length formats pad numeric fields to the left with zeros and pad text fields to the right with spaces. </a:t>
            </a:r>
          </a:p>
          <a:p>
            <a:pPr marL="609600" indent="-609600" algn="just">
              <a:lnSpc>
                <a:spcPct val="80000"/>
              </a:lnSpc>
              <a:spcBef>
                <a:spcPts val="600"/>
              </a:spcBef>
              <a:spcAft>
                <a:spcPts val="600"/>
              </a:spcAft>
            </a:pPr>
            <a:r>
              <a:rPr lang="en-US" altLang="en-US" sz="2000" dirty="0"/>
              <a:t>For Disable Field Browse - A logical field:</a:t>
            </a:r>
          </a:p>
          <a:p>
            <a:pPr marL="990600" lvl="1" indent="-533400" algn="just">
              <a:lnSpc>
                <a:spcPct val="80000"/>
              </a:lnSpc>
              <a:spcBef>
                <a:spcPts val="600"/>
              </a:spcBef>
              <a:spcAft>
                <a:spcPts val="600"/>
              </a:spcAft>
            </a:pPr>
            <a:r>
              <a:rPr lang="en-US" altLang="en-US" sz="2000" dirty="0"/>
              <a:t>Y - To create a report display that will is read-only. Users will not be able to move the cursor into the report.</a:t>
            </a:r>
          </a:p>
          <a:p>
            <a:pPr marL="990600" lvl="1" indent="-533400" algn="just">
              <a:lnSpc>
                <a:spcPct val="80000"/>
              </a:lnSpc>
              <a:spcBef>
                <a:spcPts val="600"/>
              </a:spcBef>
              <a:spcAft>
                <a:spcPts val="600"/>
              </a:spcAft>
            </a:pPr>
            <a:r>
              <a:rPr lang="en-US" altLang="en-US" sz="2000" dirty="0"/>
              <a:t>N - To create a report display that can be read or modified.  Users will be able to move the cursor into the report to view data, or to use the browser cut and paste feature. </a:t>
            </a:r>
          </a:p>
        </p:txBody>
      </p:sp>
    </p:spTree>
    <p:extLst>
      <p:ext uri="{BB962C8B-B14F-4D97-AF65-F5344CB8AC3E}">
        <p14:creationId xmlns:p14="http://schemas.microsoft.com/office/powerpoint/2010/main" val="2811883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2A44447-1E9E-4B64-8ED0-CEA3585CCEA2}"/>
              </a:ext>
            </a:extLst>
          </p:cNvPr>
          <p:cNvSpPr>
            <a:spLocks noGrp="1" noChangeArrowheads="1"/>
          </p:cNvSpPr>
          <p:nvPr>
            <p:ph type="title"/>
          </p:nvPr>
        </p:nvSpPr>
        <p:spPr/>
        <p:txBody>
          <a:bodyPr/>
          <a:lstStyle/>
          <a:p>
            <a:r>
              <a:rPr lang="en-US" altLang="en-US"/>
              <a:t>Report Sequence screen</a:t>
            </a:r>
          </a:p>
        </p:txBody>
      </p:sp>
      <p:sp>
        <p:nvSpPr>
          <p:cNvPr id="35843" name="Rectangle 3">
            <a:extLst>
              <a:ext uri="{FF2B5EF4-FFF2-40B4-BE49-F238E27FC236}">
                <a16:creationId xmlns:a16="http://schemas.microsoft.com/office/drawing/2014/main" id="{DE1C9F44-F30A-4CAA-837F-ABAA8B7F87F7}"/>
              </a:ext>
            </a:extLst>
          </p:cNvPr>
          <p:cNvSpPr>
            <a:spLocks noGrp="1" noChangeArrowheads="1"/>
          </p:cNvSpPr>
          <p:nvPr>
            <p:ph type="body" idx="1"/>
          </p:nvPr>
        </p:nvSpPr>
        <p:spPr>
          <a:xfrm>
            <a:off x="381000" y="1176958"/>
            <a:ext cx="8305800" cy="1539738"/>
          </a:xfrm>
        </p:spPr>
        <p:txBody>
          <a:bodyPr/>
          <a:lstStyle/>
          <a:p>
            <a:pPr algn="just">
              <a:lnSpc>
                <a:spcPct val="90000"/>
              </a:lnSpc>
            </a:pPr>
            <a:r>
              <a:rPr lang="en-US" altLang="en-US" sz="2000" dirty="0"/>
              <a:t>Pictured below is the Report Sequence Definition Screen.  This screen determines how the report will be ordered.  The default order is determined by the Access Keys of the primary file listed in the Access File(s) field.  This order can be modified to accommodate other sorts; however, all Access Keys of the primary file must be included.</a:t>
            </a:r>
          </a:p>
        </p:txBody>
      </p:sp>
      <p:pic>
        <p:nvPicPr>
          <p:cNvPr id="3" name="Picture 2">
            <a:extLst>
              <a:ext uri="{FF2B5EF4-FFF2-40B4-BE49-F238E27FC236}">
                <a16:creationId xmlns:a16="http://schemas.microsoft.com/office/drawing/2014/main" id="{36A9817B-1059-4268-9DF4-FDE69BE4987E}"/>
              </a:ext>
            </a:extLst>
          </p:cNvPr>
          <p:cNvPicPr>
            <a:picLocks noChangeAspect="1"/>
          </p:cNvPicPr>
          <p:nvPr/>
        </p:nvPicPr>
        <p:blipFill>
          <a:blip r:embed="rId2"/>
          <a:stretch>
            <a:fillRect/>
          </a:stretch>
        </p:blipFill>
        <p:spPr>
          <a:xfrm>
            <a:off x="641488" y="2860191"/>
            <a:ext cx="8045312" cy="3143860"/>
          </a:xfrm>
          <a:prstGeom prst="rect">
            <a:avLst/>
          </a:prstGeom>
        </p:spPr>
      </p:pic>
    </p:spTree>
    <p:extLst>
      <p:ext uri="{BB962C8B-B14F-4D97-AF65-F5344CB8AC3E}">
        <p14:creationId xmlns:p14="http://schemas.microsoft.com/office/powerpoint/2010/main" val="2301576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5649195-8E04-4FA3-862C-FF0CEFBD329C}"/>
              </a:ext>
            </a:extLst>
          </p:cNvPr>
          <p:cNvSpPr>
            <a:spLocks noGrp="1" noChangeArrowheads="1"/>
          </p:cNvSpPr>
          <p:nvPr>
            <p:ph type="title"/>
          </p:nvPr>
        </p:nvSpPr>
        <p:spPr/>
        <p:txBody>
          <a:bodyPr/>
          <a:lstStyle/>
          <a:p>
            <a:r>
              <a:rPr lang="en-US" altLang="en-US"/>
              <a:t>Report Sequence (cont.)</a:t>
            </a:r>
          </a:p>
        </p:txBody>
      </p:sp>
      <p:sp>
        <p:nvSpPr>
          <p:cNvPr id="36867" name="Rectangle 3">
            <a:extLst>
              <a:ext uri="{FF2B5EF4-FFF2-40B4-BE49-F238E27FC236}">
                <a16:creationId xmlns:a16="http://schemas.microsoft.com/office/drawing/2014/main" id="{793DCB4F-CBF4-4534-AD76-EBD5588AB80B}"/>
              </a:ext>
            </a:extLst>
          </p:cNvPr>
          <p:cNvSpPr>
            <a:spLocks noGrp="1" noChangeArrowheads="1"/>
          </p:cNvSpPr>
          <p:nvPr>
            <p:ph type="body" idx="1"/>
          </p:nvPr>
        </p:nvSpPr>
        <p:spPr>
          <a:xfrm>
            <a:off x="381000" y="1165984"/>
            <a:ext cx="8305800" cy="5062538"/>
          </a:xfrm>
        </p:spPr>
        <p:txBody>
          <a:bodyPr/>
          <a:lstStyle/>
          <a:p>
            <a:pPr marL="609600" indent="-609600" algn="just">
              <a:lnSpc>
                <a:spcPct val="80000"/>
              </a:lnSpc>
              <a:spcBef>
                <a:spcPts val="600"/>
              </a:spcBef>
              <a:spcAft>
                <a:spcPts val="600"/>
              </a:spcAft>
            </a:pPr>
            <a:r>
              <a:rPr lang="en-US" altLang="en-US" dirty="0"/>
              <a:t>Access File(s) - These files are defaulted from the Control Page and protected.</a:t>
            </a:r>
          </a:p>
          <a:p>
            <a:pPr marL="609600" indent="-609600" algn="just">
              <a:lnSpc>
                <a:spcPct val="80000"/>
              </a:lnSpc>
              <a:spcBef>
                <a:spcPts val="600"/>
              </a:spcBef>
              <a:spcAft>
                <a:spcPts val="600"/>
              </a:spcAft>
            </a:pPr>
            <a:r>
              <a:rPr lang="en-US" altLang="en-US" dirty="0"/>
              <a:t>Sequence By - The report is sorted by the Data Items listed.  The Access Keys from the Primary Access File are listed by default.</a:t>
            </a:r>
          </a:p>
          <a:p>
            <a:pPr marL="990600" lvl="1" indent="-533400" algn="just">
              <a:lnSpc>
                <a:spcPct val="80000"/>
              </a:lnSpc>
              <a:spcBef>
                <a:spcPts val="600"/>
              </a:spcBef>
              <a:spcAft>
                <a:spcPts val="600"/>
              </a:spcAft>
            </a:pPr>
            <a:r>
              <a:rPr lang="en-US" altLang="en-US" sz="1800" dirty="0"/>
              <a:t>To change the sort order, add the Data Item to be used as a sort key to this list.  The additional Data Items must be included with the default keys.</a:t>
            </a:r>
          </a:p>
          <a:p>
            <a:pPr marL="609600" indent="-609600" algn="just">
              <a:lnSpc>
                <a:spcPct val="80000"/>
              </a:lnSpc>
              <a:spcBef>
                <a:spcPts val="600"/>
              </a:spcBef>
              <a:spcAft>
                <a:spcPts val="600"/>
              </a:spcAft>
            </a:pPr>
            <a:r>
              <a:rPr lang="en-US" altLang="en-US" dirty="0"/>
              <a:t>New Page at Key Breaks - Enter a Y to start a group section on a new page.  Enter an N to print each group section without breaking to a new page.</a:t>
            </a:r>
          </a:p>
          <a:p>
            <a:pPr marL="609600" indent="-609600" algn="just">
              <a:lnSpc>
                <a:spcPct val="80000"/>
              </a:lnSpc>
              <a:spcBef>
                <a:spcPts val="600"/>
              </a:spcBef>
              <a:spcAft>
                <a:spcPts val="600"/>
              </a:spcAft>
            </a:pPr>
            <a:r>
              <a:rPr lang="en-US" altLang="en-US" dirty="0"/>
              <a:t>Print Header After each Page Break: - Enter a Y here to print group headings at the top of every page.  Enter an N here to print group headings only when the group changes.</a:t>
            </a:r>
          </a:p>
          <a:p>
            <a:pPr marL="609600" indent="-609600" algn="just">
              <a:lnSpc>
                <a:spcPct val="80000"/>
              </a:lnSpc>
              <a:spcBef>
                <a:spcPts val="600"/>
              </a:spcBef>
              <a:spcAft>
                <a:spcPts val="600"/>
              </a:spcAft>
            </a:pPr>
            <a:r>
              <a:rPr lang="en-US" altLang="en-US" i="1" dirty="0"/>
              <a:t>Minimum Print Lines</a:t>
            </a:r>
            <a:r>
              <a:rPr lang="en-US" altLang="en-US" dirty="0"/>
              <a:t> - Enter the number of lines to be printed at the bottom of a page before the report breaks to a new page.  The default is “*”.  The Minimum Print Lines value for the default is the number of lines in the Detail Section of the report. </a:t>
            </a:r>
          </a:p>
          <a:p>
            <a:pPr marL="609600" indent="-609600" algn="just">
              <a:lnSpc>
                <a:spcPct val="80000"/>
              </a:lnSpc>
              <a:spcBef>
                <a:spcPts val="600"/>
              </a:spcBef>
              <a:spcAft>
                <a:spcPts val="600"/>
              </a:spcAft>
            </a:pPr>
            <a:r>
              <a:rPr lang="en-US" altLang="en-US" dirty="0"/>
              <a:t>Order A/D - This field applies to the corresponding Sequence-by Key.  A response of “A” would sort the key in ascending order.  A response of “D” would sort the key in descending order. </a:t>
            </a:r>
          </a:p>
        </p:txBody>
      </p:sp>
    </p:spTree>
    <p:extLst>
      <p:ext uri="{BB962C8B-B14F-4D97-AF65-F5344CB8AC3E}">
        <p14:creationId xmlns:p14="http://schemas.microsoft.com/office/powerpoint/2010/main" val="1706530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a:t>Report Editor</a:t>
            </a:r>
          </a:p>
        </p:txBody>
      </p:sp>
      <p:sp>
        <p:nvSpPr>
          <p:cNvPr id="37891" name="Rectangle 3">
            <a:extLst>
              <a:ext uri="{FF2B5EF4-FFF2-40B4-BE49-F238E27FC236}">
                <a16:creationId xmlns:a16="http://schemas.microsoft.com/office/drawing/2014/main" id="{180368ED-5220-48A0-83DB-29FAF756B60D}"/>
              </a:ext>
            </a:extLst>
          </p:cNvPr>
          <p:cNvSpPr>
            <a:spLocks noGrp="1" noChangeArrowheads="1"/>
          </p:cNvSpPr>
          <p:nvPr>
            <p:ph type="body" idx="1"/>
          </p:nvPr>
        </p:nvSpPr>
        <p:spPr>
          <a:xfrm>
            <a:off x="381000" y="1296228"/>
            <a:ext cx="8305800" cy="4309442"/>
          </a:xfrm>
        </p:spPr>
        <p:txBody>
          <a:bodyPr/>
          <a:lstStyle/>
          <a:p>
            <a:pPr>
              <a:lnSpc>
                <a:spcPct val="80000"/>
              </a:lnSpc>
              <a:spcBef>
                <a:spcPts val="600"/>
              </a:spcBef>
              <a:spcAft>
                <a:spcPts val="600"/>
              </a:spcAft>
            </a:pPr>
            <a:r>
              <a:rPr lang="en-US" altLang="en-US" sz="2000" dirty="0"/>
              <a:t>After completing the </a:t>
            </a:r>
            <a:r>
              <a:rPr lang="en-US" altLang="en-US" sz="2000" i="1" dirty="0"/>
              <a:t>Report Sequence Definition</a:t>
            </a:r>
            <a:r>
              <a:rPr lang="en-US" altLang="en-US" sz="2000" dirty="0"/>
              <a:t> screen (</a:t>
            </a:r>
            <a:r>
              <a:rPr lang="en-US" altLang="en-US" sz="2000" i="1" dirty="0"/>
              <a:t>Order By</a:t>
            </a:r>
            <a:r>
              <a:rPr lang="en-US" altLang="en-US" sz="2000" dirty="0"/>
              <a:t> page), the system will provide an Object Oriented Editor (OOE) layout screen where the report is designed. </a:t>
            </a:r>
          </a:p>
          <a:p>
            <a:pPr>
              <a:lnSpc>
                <a:spcPct val="80000"/>
              </a:lnSpc>
              <a:spcBef>
                <a:spcPts val="600"/>
              </a:spcBef>
              <a:spcAft>
                <a:spcPts val="600"/>
              </a:spcAft>
            </a:pPr>
            <a:r>
              <a:rPr lang="en-US" altLang="en-US" sz="2000" dirty="0"/>
              <a:t>The Object Oriented Editor (OOE) is considered a WYSIWYG editor (What You See Is What You Get).  In other words, the report will appear at run-time exactly as it does in the OOE.</a:t>
            </a:r>
          </a:p>
          <a:p>
            <a:pPr>
              <a:lnSpc>
                <a:spcPct val="80000"/>
              </a:lnSpc>
              <a:spcBef>
                <a:spcPts val="600"/>
              </a:spcBef>
              <a:spcAft>
                <a:spcPts val="600"/>
              </a:spcAft>
            </a:pPr>
            <a:r>
              <a:rPr lang="en-US" altLang="en-US" sz="2000" dirty="0"/>
              <a:t>The OOE layout screen is divided into four sections Separated by markers.  Regardless of the key structure on the Report Sequence Definition screen, the system will provide the following markers:    </a:t>
            </a:r>
          </a:p>
          <a:p>
            <a:pPr>
              <a:lnSpc>
                <a:spcPct val="80000"/>
              </a:lnSpc>
              <a:spcBef>
                <a:spcPts val="600"/>
              </a:spcBef>
              <a:spcAft>
                <a:spcPts val="600"/>
              </a:spcAft>
            </a:pPr>
            <a:r>
              <a:rPr lang="en-US" altLang="en-US" sz="2000" dirty="0"/>
              <a:t>Page Header </a:t>
            </a:r>
          </a:p>
          <a:p>
            <a:pPr>
              <a:lnSpc>
                <a:spcPct val="80000"/>
              </a:lnSpc>
              <a:spcBef>
                <a:spcPts val="600"/>
              </a:spcBef>
              <a:spcAft>
                <a:spcPts val="600"/>
              </a:spcAft>
            </a:pPr>
            <a:r>
              <a:rPr lang="en-US" altLang="en-US" sz="2000" dirty="0"/>
              <a:t>Report Detail</a:t>
            </a:r>
          </a:p>
          <a:p>
            <a:pPr>
              <a:lnSpc>
                <a:spcPct val="80000"/>
              </a:lnSpc>
              <a:spcBef>
                <a:spcPts val="600"/>
              </a:spcBef>
              <a:spcAft>
                <a:spcPts val="600"/>
              </a:spcAft>
            </a:pPr>
            <a:r>
              <a:rPr lang="en-US" altLang="en-US" sz="2000" dirty="0"/>
              <a:t>Page Trailer </a:t>
            </a:r>
          </a:p>
          <a:p>
            <a:pPr>
              <a:lnSpc>
                <a:spcPct val="80000"/>
              </a:lnSpc>
              <a:spcBef>
                <a:spcPts val="600"/>
              </a:spcBef>
              <a:spcAft>
                <a:spcPts val="600"/>
              </a:spcAft>
            </a:pPr>
            <a:r>
              <a:rPr lang="en-US" altLang="en-US" sz="2000" dirty="0"/>
              <a:t>Report Summary </a:t>
            </a:r>
          </a:p>
        </p:txBody>
      </p:sp>
    </p:spTree>
    <p:extLst>
      <p:ext uri="{BB962C8B-B14F-4D97-AF65-F5344CB8AC3E}">
        <p14:creationId xmlns:p14="http://schemas.microsoft.com/office/powerpoint/2010/main" val="227386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a:t>Report Editor</a:t>
            </a:r>
          </a:p>
        </p:txBody>
      </p:sp>
      <p:sp>
        <p:nvSpPr>
          <p:cNvPr id="3" name="Content Placeholder 2">
            <a:extLst>
              <a:ext uri="{FF2B5EF4-FFF2-40B4-BE49-F238E27FC236}">
                <a16:creationId xmlns:a16="http://schemas.microsoft.com/office/drawing/2014/main" id="{2348EFC8-D47A-40A4-BDB7-22C8BB4793F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2BFB7B0-C6F7-47F8-BDF6-478806B5FE2B}"/>
              </a:ext>
            </a:extLst>
          </p:cNvPr>
          <p:cNvPicPr>
            <a:picLocks noChangeAspect="1"/>
          </p:cNvPicPr>
          <p:nvPr/>
        </p:nvPicPr>
        <p:blipFill>
          <a:blip r:embed="rId2"/>
          <a:stretch>
            <a:fillRect/>
          </a:stretch>
        </p:blipFill>
        <p:spPr>
          <a:xfrm>
            <a:off x="381000" y="1403692"/>
            <a:ext cx="8313351" cy="4768508"/>
          </a:xfrm>
          <a:prstGeom prst="rect">
            <a:avLst/>
          </a:prstGeom>
        </p:spPr>
      </p:pic>
    </p:spTree>
    <p:extLst>
      <p:ext uri="{BB962C8B-B14F-4D97-AF65-F5344CB8AC3E}">
        <p14:creationId xmlns:p14="http://schemas.microsoft.com/office/powerpoint/2010/main" val="1476925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dirty="0"/>
              <a:t>Reports - Keyboard Map</a:t>
            </a:r>
          </a:p>
        </p:txBody>
      </p:sp>
      <p:graphicFrame>
        <p:nvGraphicFramePr>
          <p:cNvPr id="5" name="Table 4">
            <a:extLst>
              <a:ext uri="{FF2B5EF4-FFF2-40B4-BE49-F238E27FC236}">
                <a16:creationId xmlns:a16="http://schemas.microsoft.com/office/drawing/2014/main" id="{7D749B7C-535C-4F1E-AD77-B63683838B67}"/>
              </a:ext>
            </a:extLst>
          </p:cNvPr>
          <p:cNvGraphicFramePr>
            <a:graphicFrameLocks noGrp="1"/>
          </p:cNvGraphicFramePr>
          <p:nvPr>
            <p:extLst>
              <p:ext uri="{D42A27DB-BD31-4B8C-83A1-F6EECF244321}">
                <p14:modId xmlns:p14="http://schemas.microsoft.com/office/powerpoint/2010/main" val="2172756846"/>
              </p:ext>
            </p:extLst>
          </p:nvPr>
        </p:nvGraphicFramePr>
        <p:xfrm>
          <a:off x="1101311" y="1230009"/>
          <a:ext cx="7671628" cy="4730115"/>
        </p:xfrm>
        <a:graphic>
          <a:graphicData uri="http://schemas.openxmlformats.org/drawingml/2006/table">
            <a:tbl>
              <a:tblPr/>
              <a:tblGrid>
                <a:gridCol w="1396370">
                  <a:extLst>
                    <a:ext uri="{9D8B030D-6E8A-4147-A177-3AD203B41FA5}">
                      <a16:colId xmlns:a16="http://schemas.microsoft.com/office/drawing/2014/main" val="1942317544"/>
                    </a:ext>
                  </a:extLst>
                </a:gridCol>
                <a:gridCol w="6275258">
                  <a:extLst>
                    <a:ext uri="{9D8B030D-6E8A-4147-A177-3AD203B41FA5}">
                      <a16:colId xmlns:a16="http://schemas.microsoft.com/office/drawing/2014/main" val="1707214113"/>
                    </a:ext>
                  </a:extLst>
                </a:gridCol>
              </a:tblGrid>
              <a:tr h="190500">
                <a:tc>
                  <a:txBody>
                    <a:bodyPr/>
                    <a:lstStyle/>
                    <a:p>
                      <a:pPr algn="ctr" fontAlgn="ctr"/>
                      <a:r>
                        <a:rPr lang="en-IN" sz="1600" b="1" i="0" u="none" strike="noStrike">
                          <a:solidFill>
                            <a:srgbClr val="333333"/>
                          </a:solidFill>
                          <a:effectLst/>
                          <a:latin typeface="Calibri" panose="020F0502020204030204" pitchFamily="34" charset="0"/>
                        </a:rPr>
                        <a:t>PC Key</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600" b="1" i="0" u="none" strike="noStrike" dirty="0">
                          <a:solidFill>
                            <a:srgbClr val="333333"/>
                          </a:solidFill>
                          <a:effectLst/>
                          <a:latin typeface="Calibri" panose="020F0502020204030204" pitchFamily="34" charset="0"/>
                        </a:rPr>
                        <a:t>Description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509951164"/>
                  </a:ext>
                </a:extLst>
              </a:tr>
              <a:tr h="190500">
                <a:tc>
                  <a:txBody>
                    <a:bodyPr/>
                    <a:lstStyle/>
                    <a:p>
                      <a:pPr algn="ctr" fontAlgn="b"/>
                      <a:r>
                        <a:rPr lang="en-IN" sz="1600" b="0" i="0" u="none" strike="noStrike">
                          <a:solidFill>
                            <a:srgbClr val="333333"/>
                          </a:solidFill>
                          <a:effectLst/>
                          <a:latin typeface="Calibri" panose="020F0502020204030204" pitchFamily="34" charset="0"/>
                        </a:rPr>
                        <a:t>Num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Shift key to modify another action key, as described above.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75658698"/>
                  </a:ext>
                </a:extLst>
              </a:tr>
              <a:tr h="190500">
                <a:tc>
                  <a:txBody>
                    <a:bodyPr/>
                    <a:lstStyle/>
                    <a:p>
                      <a:pPr algn="ctr" fontAlgn="b"/>
                      <a:r>
                        <a:rPr lang="en-IN" sz="1600" b="0" i="0" u="none" strike="noStrike">
                          <a:solidFill>
                            <a:srgbClr val="333333"/>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Insert a field or data item at the cursor location.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2937495"/>
                  </a:ext>
                </a:extLst>
              </a:tr>
              <a:tr h="190500">
                <a:tc>
                  <a:txBody>
                    <a:bodyPr/>
                    <a:lstStyle/>
                    <a:p>
                      <a:pPr algn="ctr" fontAlgn="b"/>
                      <a:r>
                        <a:rPr lang="en-IN" sz="1600" b="0" i="0" u="none" strike="noStrike">
                          <a:solidFill>
                            <a:srgbClr val="333333"/>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Move current line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96347406"/>
                  </a:ext>
                </a:extLst>
              </a:tr>
              <a:tr h="190500">
                <a:tc>
                  <a:txBody>
                    <a:bodyPr/>
                    <a:lstStyle/>
                    <a:p>
                      <a:pPr algn="ctr" fontAlgn="b"/>
                      <a:r>
                        <a:rPr lang="en-IN" sz="1600" b="0" i="0" u="none" strike="noStrike">
                          <a:solidFill>
                            <a:srgbClr val="333333"/>
                          </a:solidFill>
                          <a:effectLst/>
                          <a:latin typeface="Calibri" panose="020F0502020204030204" pitchFamily="34" charset="0"/>
                        </a:rPr>
                        <a:t>Num-*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Move current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90138860"/>
                  </a:ext>
                </a:extLst>
              </a:tr>
              <a:tr h="190500">
                <a:tc>
                  <a:txBody>
                    <a:bodyPr/>
                    <a:lstStyle/>
                    <a:p>
                      <a:pPr algn="ctr" fontAlgn="b"/>
                      <a:r>
                        <a:rPr lang="en-IN" sz="1600" b="0" i="0" u="none" strike="noStrike">
                          <a:solidFill>
                            <a:srgbClr val="333333"/>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Delete current line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80160530"/>
                  </a:ext>
                </a:extLst>
              </a:tr>
              <a:tr h="190500">
                <a:tc>
                  <a:txBody>
                    <a:bodyPr/>
                    <a:lstStyle/>
                    <a:p>
                      <a:pPr algn="ctr" fontAlgn="b"/>
                      <a:r>
                        <a:rPr lang="en-IN" sz="1600" b="0" i="0" u="none" strike="noStrike">
                          <a:solidFill>
                            <a:srgbClr val="333333"/>
                          </a:solidFill>
                          <a:effectLst/>
                          <a:latin typeface="Calibri" panose="020F0502020204030204" pitchFamily="34" charset="0"/>
                        </a:rPr>
                        <a:t>Num--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Delete current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87625179"/>
                  </a:ext>
                </a:extLst>
              </a:tr>
              <a:tr h="190500">
                <a:tc>
                  <a:txBody>
                    <a:bodyPr/>
                    <a:lstStyle/>
                    <a:p>
                      <a:pPr algn="ctr" fontAlgn="b"/>
                      <a:r>
                        <a:rPr lang="en-IN" sz="1600" b="0" i="0" u="none" strike="noStrike">
                          <a:solidFill>
                            <a:srgbClr val="333333"/>
                          </a:solidFill>
                          <a:effectLst/>
                          <a:latin typeface="Calibri" panose="020F0502020204030204" pitchFamily="34" charset="0"/>
                        </a:rPr>
                        <a:t>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Access report writer functions, e.g. save, compile, run, etc.</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0065303"/>
                  </a:ext>
                </a:extLst>
              </a:tr>
              <a:tr h="381000">
                <a:tc>
                  <a:txBody>
                    <a:bodyPr/>
                    <a:lstStyle/>
                    <a:p>
                      <a:pPr algn="ctr" fontAlgn="b"/>
                      <a:r>
                        <a:rPr lang="en-IN" sz="1600" b="0" i="0" u="none" strike="noStrike">
                          <a:solidFill>
                            <a:srgbClr val="333333"/>
                          </a:solidFill>
                          <a:effectLst/>
                          <a:latin typeface="Calibri" panose="020F0502020204030204" pitchFamily="34" charset="0"/>
                        </a:rPr>
                        <a:t>Num-0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Access report writer commands/features, e.g., blank line suppress, line feed suppress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56242576"/>
                  </a:ext>
                </a:extLst>
              </a:tr>
              <a:tr h="190500">
                <a:tc>
                  <a:txBody>
                    <a:bodyPr/>
                    <a:lstStyle/>
                    <a:p>
                      <a:pPr algn="ctr" fontAlgn="b"/>
                      <a:r>
                        <a:rPr lang="en-IN" sz="1600" b="0" i="0" u="none" strike="noStrike">
                          <a:solidFill>
                            <a:srgbClr val="333333"/>
                          </a:solidFill>
                          <a:effectLst/>
                          <a:latin typeface="Calibri" panose="020F0502020204030204" pitchFamily="34" charset="0"/>
                        </a:rPr>
                        <a: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group of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31523994"/>
                  </a:ext>
                </a:extLst>
              </a:tr>
              <a:tr h="190500">
                <a:tc>
                  <a:txBody>
                    <a:bodyPr/>
                    <a:lstStyle/>
                    <a:p>
                      <a:pPr algn="ctr" fontAlgn="b"/>
                      <a:r>
                        <a:rPr lang="en-IN" sz="1600" b="0" i="0" u="none" strike="noStrike">
                          <a:solidFill>
                            <a:srgbClr val="333333"/>
                          </a:solidFill>
                          <a:effectLst/>
                          <a:latin typeface="Calibri" panose="020F0502020204030204" pitchFamily="34" charset="0"/>
                        </a:rPr>
                        <a:t>Num-1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Un-select selected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13769974"/>
                  </a:ext>
                </a:extLst>
              </a:tr>
              <a:tr h="190500">
                <a:tc>
                  <a:txBody>
                    <a:bodyPr/>
                    <a:lstStyle/>
                    <a:p>
                      <a:pPr algn="ctr" fontAlgn="b"/>
                      <a:r>
                        <a:rPr lang="en-IN" sz="1600" b="0" i="0" u="none" strike="noStrike">
                          <a:solidFill>
                            <a:srgbClr val="333333"/>
                          </a:solidFill>
                          <a:effectLst/>
                          <a:latin typeface="Calibri" panose="020F0502020204030204" pitchFamily="34" charset="0"/>
                        </a:rPr>
                        <a:t>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Go to a specific XY coordinate.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95867298"/>
                  </a:ext>
                </a:extLst>
              </a:tr>
              <a:tr h="190500">
                <a:tc>
                  <a:txBody>
                    <a:bodyPr/>
                    <a:lstStyle/>
                    <a:p>
                      <a:pPr algn="ctr" fontAlgn="b"/>
                      <a:r>
                        <a:rPr lang="en-IN" sz="1600" b="0" i="0" u="none" strike="noStrike">
                          <a:solidFill>
                            <a:srgbClr val="333333"/>
                          </a:solidFill>
                          <a:effectLst/>
                          <a:latin typeface="Calibri" panose="020F0502020204030204" pitchFamily="34" charset="0"/>
                        </a:rPr>
                        <a:t>Num-2</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Buffer manager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64779224"/>
                  </a:ext>
                </a:extLst>
              </a:tr>
              <a:tr h="190500">
                <a:tc>
                  <a:txBody>
                    <a:bodyPr/>
                    <a:lstStyle/>
                    <a:p>
                      <a:pPr algn="ctr" fontAlgn="b"/>
                      <a:r>
                        <a:rPr lang="en-IN" sz="1600" b="0" i="0" u="none" strike="noStrike">
                          <a:solidFill>
                            <a:srgbClr val="333333"/>
                          </a:solidFill>
                          <a:effectLst/>
                          <a:latin typeface="Calibri" panose="020F0502020204030204" pitchFamily="34" charset="0"/>
                        </a:rPr>
                        <a:t>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Enter command.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36829131"/>
                  </a:ext>
                </a:extLst>
              </a:tr>
              <a:tr h="190500">
                <a:tc>
                  <a:txBody>
                    <a:bodyPr/>
                    <a:lstStyle/>
                    <a:p>
                      <a:pPr algn="ctr" fontAlgn="b"/>
                      <a:r>
                        <a:rPr lang="en-IN" sz="1600" b="0" i="0" u="none" strike="noStrike">
                          <a:solidFill>
                            <a:srgbClr val="333333"/>
                          </a:solidFill>
                          <a:effectLst/>
                          <a:latin typeface="Calibri" panose="020F0502020204030204" pitchFamily="34" charset="0"/>
                        </a:rPr>
                        <a:t>Num-3</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ZSYSTEM command to access shell</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1237877"/>
                  </a:ext>
                </a:extLst>
              </a:tr>
            </a:tbl>
          </a:graphicData>
        </a:graphic>
      </p:graphicFrame>
    </p:spTree>
    <p:extLst>
      <p:ext uri="{BB962C8B-B14F-4D97-AF65-F5344CB8AC3E}">
        <p14:creationId xmlns:p14="http://schemas.microsoft.com/office/powerpoint/2010/main" val="2689606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dirty="0"/>
              <a:t>Reports - Keyboard Map</a:t>
            </a:r>
          </a:p>
        </p:txBody>
      </p:sp>
      <p:graphicFrame>
        <p:nvGraphicFramePr>
          <p:cNvPr id="2" name="Table 1">
            <a:extLst>
              <a:ext uri="{FF2B5EF4-FFF2-40B4-BE49-F238E27FC236}">
                <a16:creationId xmlns:a16="http://schemas.microsoft.com/office/drawing/2014/main" id="{7D308DCD-0E41-4C8B-AB74-69AED9A6B86D}"/>
              </a:ext>
            </a:extLst>
          </p:cNvPr>
          <p:cNvGraphicFramePr>
            <a:graphicFrameLocks noGrp="1"/>
          </p:cNvGraphicFramePr>
          <p:nvPr>
            <p:extLst>
              <p:ext uri="{D42A27DB-BD31-4B8C-83A1-F6EECF244321}">
                <p14:modId xmlns:p14="http://schemas.microsoft.com/office/powerpoint/2010/main" val="3544856424"/>
              </p:ext>
            </p:extLst>
          </p:nvPr>
        </p:nvGraphicFramePr>
        <p:xfrm>
          <a:off x="703745" y="1356980"/>
          <a:ext cx="8042689" cy="4674870"/>
        </p:xfrm>
        <a:graphic>
          <a:graphicData uri="http://schemas.openxmlformats.org/drawingml/2006/table">
            <a:tbl>
              <a:tblPr/>
              <a:tblGrid>
                <a:gridCol w="1463910">
                  <a:extLst>
                    <a:ext uri="{9D8B030D-6E8A-4147-A177-3AD203B41FA5}">
                      <a16:colId xmlns:a16="http://schemas.microsoft.com/office/drawing/2014/main" val="1172730471"/>
                    </a:ext>
                  </a:extLst>
                </a:gridCol>
                <a:gridCol w="6578779">
                  <a:extLst>
                    <a:ext uri="{9D8B030D-6E8A-4147-A177-3AD203B41FA5}">
                      <a16:colId xmlns:a16="http://schemas.microsoft.com/office/drawing/2014/main" val="1380804777"/>
                    </a:ext>
                  </a:extLst>
                </a:gridCol>
              </a:tblGrid>
              <a:tr h="571500">
                <a:tc>
                  <a:txBody>
                    <a:bodyPr/>
                    <a:lstStyle/>
                    <a:p>
                      <a:pPr algn="ctr" fontAlgn="b"/>
                      <a:r>
                        <a:rPr lang="en-IN" sz="1600" b="0" i="0" u="none" strike="noStrike">
                          <a:solidFill>
                            <a:srgbClr val="333333"/>
                          </a:solidFill>
                          <a:effectLst/>
                          <a:latin typeface="Calibri" panose="020F0502020204030204" pitchFamily="34" charset="0"/>
                        </a:rPr>
                        <a:t>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heading style, or turn off automatic headings. Unless turned off, when a column is added as a field, the column's report heading (DBTBL1D.RHD) value is inserted as a heading.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69044258"/>
                  </a:ext>
                </a:extLst>
              </a:tr>
              <a:tr h="190500">
                <a:tc>
                  <a:txBody>
                    <a:bodyPr/>
                    <a:lstStyle/>
                    <a:p>
                      <a:pPr algn="ctr" fontAlgn="b"/>
                      <a:r>
                        <a:rPr lang="en-IN" sz="1600" b="0" i="0" u="none" strike="noStrike">
                          <a:solidFill>
                            <a:srgbClr val="333333"/>
                          </a:solidFill>
                          <a:effectLst/>
                          <a:latin typeface="Calibri" panose="020F0502020204030204" pitchFamily="34" charset="0"/>
                        </a:rPr>
                        <a:t>Num-4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Change the case of selected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1614168"/>
                  </a:ext>
                </a:extLst>
              </a:tr>
              <a:tr h="190500">
                <a:tc>
                  <a:txBody>
                    <a:bodyPr/>
                    <a:lstStyle/>
                    <a:p>
                      <a:pPr algn="ctr" fontAlgn="b"/>
                      <a:r>
                        <a:rPr lang="en-IN" sz="1600" b="0" i="0" u="none" strike="noStrike">
                          <a:solidFill>
                            <a:srgbClr val="333333"/>
                          </a:solidFill>
                          <a:effectLst/>
                          <a:latin typeface="Calibri" panose="020F0502020204030204" pitchFamily="34" charset="0"/>
                        </a:rPr>
                        <a:t>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style for fields on entry - relevant for screens, not reports.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51169237"/>
                  </a:ext>
                </a:extLst>
              </a:tr>
              <a:tr h="190500">
                <a:tc>
                  <a:txBody>
                    <a:bodyPr/>
                    <a:lstStyle/>
                    <a:p>
                      <a:pPr algn="ctr" fontAlgn="b"/>
                      <a:r>
                        <a:rPr lang="en-IN" sz="1600" b="0" i="0" u="none" strike="noStrike">
                          <a:solidFill>
                            <a:srgbClr val="333333"/>
                          </a:solidFill>
                          <a:effectLst/>
                          <a:latin typeface="Calibri" panose="020F0502020204030204" pitchFamily="34" charset="0"/>
                        </a:rPr>
                        <a:t>Num-5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size for field - relevant for screens, not reports.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7707767"/>
                  </a:ext>
                </a:extLst>
              </a:tr>
              <a:tr h="190500">
                <a:tc>
                  <a:txBody>
                    <a:bodyPr/>
                    <a:lstStyle/>
                    <a:p>
                      <a:pPr algn="ctr" fontAlgn="b"/>
                      <a:r>
                        <a:rPr lang="en-IN" sz="1600" b="0" i="0" u="none" strike="noStrike">
                          <a:solidFill>
                            <a:srgbClr val="333333"/>
                          </a:solidFill>
                          <a:effectLst/>
                          <a:latin typeface="Calibri" panose="020F0502020204030204" pitchFamily="34" charset="0"/>
                        </a:rPr>
                        <a:t>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Insert graphic character - relevant for screens, not reports.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70149457"/>
                  </a:ext>
                </a:extLst>
              </a:tr>
              <a:tr h="190500">
                <a:tc>
                  <a:txBody>
                    <a:bodyPr/>
                    <a:lstStyle/>
                    <a:p>
                      <a:pPr algn="ctr" fontAlgn="b"/>
                      <a:r>
                        <a:rPr lang="en-IN" sz="1600" b="0" i="0" u="none" strike="noStrike">
                          <a:solidFill>
                            <a:srgbClr val="333333"/>
                          </a:solidFill>
                          <a:effectLst/>
                          <a:latin typeface="Calibri" panose="020F0502020204030204" pitchFamily="34" charset="0"/>
                        </a:rPr>
                        <a:t>Num-6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Insert frame - relevant for screens, not reports.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55724374"/>
                  </a:ext>
                </a:extLst>
              </a:tr>
              <a:tr h="190500">
                <a:tc>
                  <a:txBody>
                    <a:bodyPr/>
                    <a:lstStyle/>
                    <a:p>
                      <a:pPr algn="ctr" fontAlgn="b"/>
                      <a:r>
                        <a:rPr lang="en-IN" sz="1600" b="0" i="0" u="none" strike="noStrike">
                          <a:solidFill>
                            <a:srgbClr val="333333"/>
                          </a:solidFill>
                          <a:effectLst/>
                          <a:latin typeface="Calibri" panose="020F0502020204030204" pitchFamily="34" charset="0"/>
                        </a:rPr>
                        <a:t>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Toggle ruler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29462026"/>
                  </a:ext>
                </a:extLst>
              </a:tr>
              <a:tr h="190500">
                <a:tc>
                  <a:txBody>
                    <a:bodyPr/>
                    <a:lstStyle/>
                    <a:p>
                      <a:pPr algn="ctr" fontAlgn="b"/>
                      <a:r>
                        <a:rPr lang="en-IN" sz="1600" b="0" i="0" u="none" strike="noStrike">
                          <a:solidFill>
                            <a:srgbClr val="333333"/>
                          </a:solidFill>
                          <a:effectLst/>
                          <a:latin typeface="Calibri" panose="020F0502020204030204" pitchFamily="34" charset="0"/>
                        </a:rPr>
                        <a:t>Num-7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Toggle 80/132 column width</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87030951"/>
                  </a:ext>
                </a:extLst>
              </a:tr>
              <a:tr h="190500">
                <a:tc>
                  <a:txBody>
                    <a:bodyPr/>
                    <a:lstStyle/>
                    <a:p>
                      <a:pPr algn="ctr" fontAlgn="b"/>
                      <a:r>
                        <a:rPr lang="en-IN" sz="1600" b="0" i="0" u="none" strike="noStrike">
                          <a:solidFill>
                            <a:srgbClr val="333333"/>
                          </a:solidFill>
                          <a:effectLst/>
                          <a:latin typeface="Calibri" panose="020F0502020204030204" pitchFamily="34" charset="0"/>
                        </a:rPr>
                        <a:t>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Move to prior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72561756"/>
                  </a:ext>
                </a:extLst>
              </a:tr>
              <a:tr h="190500">
                <a:tc>
                  <a:txBody>
                    <a:bodyPr/>
                    <a:lstStyle/>
                    <a:p>
                      <a:pPr algn="ctr" fontAlgn="b"/>
                      <a:r>
                        <a:rPr lang="en-IN" sz="1600" b="0" i="0" u="none" strike="noStrike">
                          <a:solidFill>
                            <a:srgbClr val="333333"/>
                          </a:solidFill>
                          <a:effectLst/>
                          <a:latin typeface="Calibri" panose="020F0502020204030204" pitchFamily="34" charset="0"/>
                        </a:rPr>
                        <a:t>Num-8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Move to end of current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0505384"/>
                  </a:ext>
                </a:extLst>
              </a:tr>
              <a:tr h="190500">
                <a:tc>
                  <a:txBody>
                    <a:bodyPr/>
                    <a:lstStyle/>
                    <a:p>
                      <a:pPr algn="ctr" fontAlgn="b"/>
                      <a:r>
                        <a:rPr lang="en-IN" sz="1600" b="0" i="0" u="none" strike="noStrike">
                          <a:solidFill>
                            <a:srgbClr val="333333"/>
                          </a:solidFill>
                          <a:effectLst/>
                          <a:latin typeface="Calibri" panose="020F0502020204030204" pitchFamily="34" charset="0"/>
                        </a:rPr>
                        <a:t>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Break a literal object at the cursor position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2422558"/>
                  </a:ext>
                </a:extLst>
              </a:tr>
              <a:tr h="190500">
                <a:tc>
                  <a:txBody>
                    <a:bodyPr/>
                    <a:lstStyle/>
                    <a:p>
                      <a:pPr algn="ctr" fontAlgn="b"/>
                      <a:r>
                        <a:rPr lang="en-IN" sz="1600" b="0" i="0" u="none" strike="noStrike">
                          <a:solidFill>
                            <a:srgbClr val="333333"/>
                          </a:solidFill>
                          <a:effectLst/>
                          <a:latin typeface="Calibri" panose="020F0502020204030204" pitchFamily="34" charset="0"/>
                        </a:rPr>
                        <a:t>Num-9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Join selected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07713484"/>
                  </a:ext>
                </a:extLst>
              </a:tr>
              <a:tr h="190500">
                <a:tc>
                  <a:txBody>
                    <a:bodyPr/>
                    <a:lstStyle/>
                    <a:p>
                      <a:pPr algn="ctr" fontAlgn="b"/>
                      <a:r>
                        <a:rPr lang="en-IN" sz="1600" b="0" i="0" u="none" strike="noStrike">
                          <a:solidFill>
                            <a:srgbClr val="333333"/>
                          </a:solidFill>
                          <a:effectLst/>
                          <a:latin typeface="Calibri" panose="020F0502020204030204" pitchFamily="34" charset="0"/>
                        </a:rPr>
                        <a:t>period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Exit editor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27832195"/>
                  </a:ext>
                </a:extLst>
              </a:tr>
              <a:tr h="190500">
                <a:tc>
                  <a:txBody>
                    <a:bodyPr/>
                    <a:lstStyle/>
                    <a:p>
                      <a:pPr algn="ctr" fontAlgn="b"/>
                      <a:r>
                        <a:rPr lang="en-IN" sz="1600" b="0" i="0" u="none" strike="noStrike">
                          <a:solidFill>
                            <a:srgbClr val="333333"/>
                          </a:solidFill>
                          <a:effectLst/>
                          <a:latin typeface="Calibri" panose="020F0502020204030204" pitchFamily="34" charset="0"/>
                        </a:rPr>
                        <a:t>Num-period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Save report/screen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96379435"/>
                  </a:ext>
                </a:extLst>
              </a:tr>
            </a:tbl>
          </a:graphicData>
        </a:graphic>
      </p:graphicFrame>
    </p:spTree>
    <p:extLst>
      <p:ext uri="{BB962C8B-B14F-4D97-AF65-F5344CB8AC3E}">
        <p14:creationId xmlns:p14="http://schemas.microsoft.com/office/powerpoint/2010/main" val="2757613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dirty="0"/>
              <a:t>Reports - Keyboard Map</a:t>
            </a:r>
          </a:p>
        </p:txBody>
      </p:sp>
      <p:graphicFrame>
        <p:nvGraphicFramePr>
          <p:cNvPr id="3" name="Table 2">
            <a:extLst>
              <a:ext uri="{FF2B5EF4-FFF2-40B4-BE49-F238E27FC236}">
                <a16:creationId xmlns:a16="http://schemas.microsoft.com/office/drawing/2014/main" id="{8C9455AA-F3FE-4843-800A-A82EDD55533E}"/>
              </a:ext>
            </a:extLst>
          </p:cNvPr>
          <p:cNvGraphicFramePr>
            <a:graphicFrameLocks noGrp="1"/>
          </p:cNvGraphicFramePr>
          <p:nvPr>
            <p:extLst>
              <p:ext uri="{D42A27DB-BD31-4B8C-83A1-F6EECF244321}">
                <p14:modId xmlns:p14="http://schemas.microsoft.com/office/powerpoint/2010/main" val="1475994537"/>
              </p:ext>
            </p:extLst>
          </p:nvPr>
        </p:nvGraphicFramePr>
        <p:xfrm>
          <a:off x="889275" y="1311758"/>
          <a:ext cx="7777645" cy="3888105"/>
        </p:xfrm>
        <a:graphic>
          <a:graphicData uri="http://schemas.openxmlformats.org/drawingml/2006/table">
            <a:tbl>
              <a:tblPr/>
              <a:tblGrid>
                <a:gridCol w="1415667">
                  <a:extLst>
                    <a:ext uri="{9D8B030D-6E8A-4147-A177-3AD203B41FA5}">
                      <a16:colId xmlns:a16="http://schemas.microsoft.com/office/drawing/2014/main" val="1838546444"/>
                    </a:ext>
                  </a:extLst>
                </a:gridCol>
                <a:gridCol w="6361978">
                  <a:extLst>
                    <a:ext uri="{9D8B030D-6E8A-4147-A177-3AD203B41FA5}">
                      <a16:colId xmlns:a16="http://schemas.microsoft.com/office/drawing/2014/main" val="1112773423"/>
                    </a:ext>
                  </a:extLst>
                </a:gridCol>
              </a:tblGrid>
              <a:tr h="190500">
                <a:tc>
                  <a:txBody>
                    <a:bodyPr/>
                    <a:lstStyle/>
                    <a:p>
                      <a:pPr algn="ctr" fontAlgn="b"/>
                      <a:r>
                        <a:rPr lang="en-IN" sz="1600" b="0" i="0" u="none" strike="noStrike">
                          <a:solidFill>
                            <a:srgbClr val="333333"/>
                          </a:solidFill>
                          <a:effectLst/>
                          <a:latin typeface="Calibri" panose="020F0502020204030204" pitchFamily="34" charset="0"/>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Resets various options to default values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22771230"/>
                  </a:ext>
                </a:extLst>
              </a:tr>
              <a:tr h="190500">
                <a:tc>
                  <a:txBody>
                    <a:bodyPr/>
                    <a:lstStyle/>
                    <a:p>
                      <a:pPr algn="ctr" fontAlgn="b"/>
                      <a:r>
                        <a:rPr lang="en-IN" sz="1600" b="0" i="0" u="none" strike="noStrike">
                          <a:solidFill>
                            <a:srgbClr val="333333"/>
                          </a:solidFill>
                          <a:effectLst/>
                          <a:latin typeface="Calibri" panose="020F0502020204030204" pitchFamily="34" charset="0"/>
                        </a:rPr>
                        <a:t>enter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Access report writer sections, e.g., control page, order-by page, etc.</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4593433"/>
                  </a:ext>
                </a:extLst>
              </a:tr>
              <a:tr h="190500">
                <a:tc>
                  <a:txBody>
                    <a:bodyPr/>
                    <a:lstStyle/>
                    <a:p>
                      <a:pPr algn="ctr" fontAlgn="b"/>
                      <a:r>
                        <a:rPr lang="en-IN" sz="1600" b="0" i="0" u="none" strike="noStrike">
                          <a:solidFill>
                            <a:srgbClr val="333333"/>
                          </a:solidFill>
                          <a:effectLst/>
                          <a:latin typeface="Calibri" panose="020F0502020204030204" pitchFamily="34" charset="0"/>
                        </a:rPr>
                        <a:t>Num-enter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Quick layout options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96264591"/>
                  </a:ext>
                </a:extLst>
              </a:tr>
              <a:tr h="190500">
                <a:tc>
                  <a:txBody>
                    <a:bodyPr/>
                    <a:lstStyle/>
                    <a:p>
                      <a:pPr algn="ctr" fontAlgn="b"/>
                      <a:r>
                        <a:rPr lang="en-IN" sz="1600" b="0" i="0" u="none" strike="noStrike">
                          <a:solidFill>
                            <a:srgbClr val="333333"/>
                          </a:solidFill>
                          <a:effectLst/>
                          <a:latin typeface="Calibri" panose="020F0502020204030204" pitchFamily="34" charset="0"/>
                        </a:rPr>
                        <a:t>Hom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Find string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29045237"/>
                  </a:ext>
                </a:extLst>
              </a:tr>
              <a:tr h="190500">
                <a:tc>
                  <a:txBody>
                    <a:bodyPr/>
                    <a:lstStyle/>
                    <a:p>
                      <a:pPr algn="ctr" fontAlgn="b"/>
                      <a:r>
                        <a:rPr lang="en-IN" sz="1600" b="0" i="0" u="none" strike="noStrike">
                          <a:solidFill>
                            <a:srgbClr val="333333"/>
                          </a:solidFill>
                          <a:effectLst/>
                          <a:latin typeface="Calibri" panose="020F0502020204030204" pitchFamily="34" charset="0"/>
                        </a:rPr>
                        <a:t>Num-Ins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Find data</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195387"/>
                  </a:ext>
                </a:extLst>
              </a:tr>
              <a:tr h="190500">
                <a:tc>
                  <a:txBody>
                    <a:bodyPr/>
                    <a:lstStyle/>
                    <a:p>
                      <a:pPr algn="ctr" fontAlgn="b"/>
                      <a:r>
                        <a:rPr lang="en-IN" sz="1600" b="0" i="0" u="none" strike="noStrike">
                          <a:solidFill>
                            <a:srgbClr val="333333"/>
                          </a:solidFill>
                          <a:effectLst/>
                          <a:latin typeface="Calibri" panose="020F0502020204030204" pitchFamily="34" charset="0"/>
                        </a:rPr>
                        <a:t>Ins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Insert buffer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78747061"/>
                  </a:ext>
                </a:extLst>
              </a:tr>
              <a:tr h="190500">
                <a:tc>
                  <a:txBody>
                    <a:bodyPr/>
                    <a:lstStyle/>
                    <a:p>
                      <a:pPr algn="ctr" fontAlgn="b"/>
                      <a:r>
                        <a:rPr lang="en-IN" sz="1600" b="0" i="0" u="none" strike="noStrike">
                          <a:solidFill>
                            <a:srgbClr val="333333"/>
                          </a:solidFill>
                          <a:effectLst/>
                          <a:latin typeface="Calibri" panose="020F0502020204030204" pitchFamily="34" charset="0"/>
                        </a:rPr>
                        <a:t>Del</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Remove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2896648"/>
                  </a:ext>
                </a:extLst>
              </a:tr>
              <a:tr h="190500">
                <a:tc>
                  <a:txBody>
                    <a:bodyPr/>
                    <a:lstStyle/>
                    <a:p>
                      <a:pPr algn="ctr" fontAlgn="b"/>
                      <a:r>
                        <a:rPr lang="en-IN" sz="1600" b="0" i="0" u="none" strike="noStrike">
                          <a:solidFill>
                            <a:srgbClr val="333333"/>
                          </a:solidFill>
                          <a:effectLst/>
                          <a:latin typeface="Calibri" panose="020F0502020204030204" pitchFamily="34" charset="0"/>
                        </a:rPr>
                        <a:t>Num-PgUp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all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56096698"/>
                  </a:ext>
                </a:extLst>
              </a:tr>
              <a:tr h="190500">
                <a:tc>
                  <a:txBody>
                    <a:bodyPr/>
                    <a:lstStyle/>
                    <a:p>
                      <a:pPr algn="ctr" fontAlgn="b"/>
                      <a:r>
                        <a:rPr lang="en-IN" sz="1600" b="0" i="0" u="none" strike="noStrike">
                          <a:solidFill>
                            <a:srgbClr val="333333"/>
                          </a:solidFill>
                          <a:effectLst/>
                          <a:latin typeface="Calibri" panose="020F0502020204030204" pitchFamily="34" charset="0"/>
                        </a:rPr>
                        <a:t>End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current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58482867"/>
                  </a:ext>
                </a:extLst>
              </a:tr>
              <a:tr h="190500">
                <a:tc>
                  <a:txBody>
                    <a:bodyPr/>
                    <a:lstStyle/>
                    <a:p>
                      <a:pPr algn="ctr" fontAlgn="b"/>
                      <a:r>
                        <a:rPr lang="en-IN" sz="1600" b="0" i="0" u="none" strike="noStrike">
                          <a:solidFill>
                            <a:srgbClr val="333333"/>
                          </a:solidFill>
                          <a:effectLst/>
                          <a:latin typeface="Calibri" panose="020F0502020204030204" pitchFamily="34" charset="0"/>
                        </a:rPr>
                        <a:t>Num-Del</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Select group of objects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85067938"/>
                  </a:ext>
                </a:extLst>
              </a:tr>
              <a:tr h="190500">
                <a:tc>
                  <a:txBody>
                    <a:bodyPr/>
                    <a:lstStyle/>
                    <a:p>
                      <a:pPr algn="ctr" fontAlgn="b"/>
                      <a:r>
                        <a:rPr lang="en-IN" sz="1600" b="0" i="0" u="none" strike="noStrike">
                          <a:solidFill>
                            <a:srgbClr val="333333"/>
                          </a:solidFill>
                          <a:effectLst/>
                          <a:latin typeface="Calibri" panose="020F0502020204030204" pitchFamily="34" charset="0"/>
                        </a:rPr>
                        <a:t>PgUp</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Pan up, i.e., move cursor up 1/2 of the screen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41862499"/>
                  </a:ext>
                </a:extLst>
              </a:tr>
              <a:tr h="190500">
                <a:tc>
                  <a:txBody>
                    <a:bodyPr/>
                    <a:lstStyle/>
                    <a:p>
                      <a:pPr algn="ctr" fontAlgn="b"/>
                      <a:r>
                        <a:rPr lang="en-IN" sz="1600" b="0" i="0" u="none" strike="noStrike">
                          <a:solidFill>
                            <a:srgbClr val="333333"/>
                          </a:solidFill>
                          <a:effectLst/>
                          <a:latin typeface="Calibri" panose="020F0502020204030204" pitchFamily="34" charset="0"/>
                        </a:rPr>
                        <a:t>Num-End</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Home - move cursor to top left corner of screen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14358752"/>
                  </a:ext>
                </a:extLst>
              </a:tr>
              <a:tr h="190500">
                <a:tc>
                  <a:txBody>
                    <a:bodyPr/>
                    <a:lstStyle/>
                    <a:p>
                      <a:pPr algn="ctr" fontAlgn="b"/>
                      <a:r>
                        <a:rPr lang="en-IN" sz="1600" b="0" i="0" u="none" strike="noStrike">
                          <a:solidFill>
                            <a:srgbClr val="333333"/>
                          </a:solidFill>
                          <a:effectLst/>
                          <a:latin typeface="Calibri" panose="020F0502020204030204" pitchFamily="34" charset="0"/>
                        </a:rPr>
                        <a:t>PgDn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Pan down, i.e., move cursor down 1/2 of the screen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78215921"/>
                  </a:ext>
                </a:extLst>
              </a:tr>
            </a:tbl>
          </a:graphicData>
        </a:graphic>
      </p:graphicFrame>
    </p:spTree>
    <p:extLst>
      <p:ext uri="{BB962C8B-B14F-4D97-AF65-F5344CB8AC3E}">
        <p14:creationId xmlns:p14="http://schemas.microsoft.com/office/powerpoint/2010/main" val="73184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40F98D-9199-418C-90F2-E54C666EC0EF}"/>
              </a:ext>
            </a:extLst>
          </p:cNvPr>
          <p:cNvSpPr>
            <a:spLocks noGrp="1" noChangeArrowheads="1"/>
          </p:cNvSpPr>
          <p:nvPr>
            <p:ph type="title"/>
          </p:nvPr>
        </p:nvSpPr>
        <p:spPr/>
        <p:txBody>
          <a:bodyPr/>
          <a:lstStyle/>
          <a:p>
            <a:r>
              <a:rPr lang="en-US" altLang="en-US" dirty="0"/>
              <a:t>Reports - Keyboard Map</a:t>
            </a:r>
          </a:p>
        </p:txBody>
      </p:sp>
      <p:graphicFrame>
        <p:nvGraphicFramePr>
          <p:cNvPr id="5" name="Table 4">
            <a:extLst>
              <a:ext uri="{FF2B5EF4-FFF2-40B4-BE49-F238E27FC236}">
                <a16:creationId xmlns:a16="http://schemas.microsoft.com/office/drawing/2014/main" id="{6E8BC51C-8029-49F9-973E-620A82235000}"/>
              </a:ext>
            </a:extLst>
          </p:cNvPr>
          <p:cNvGraphicFramePr>
            <a:graphicFrameLocks noGrp="1"/>
          </p:cNvGraphicFramePr>
          <p:nvPr>
            <p:extLst>
              <p:ext uri="{D42A27DB-BD31-4B8C-83A1-F6EECF244321}">
                <p14:modId xmlns:p14="http://schemas.microsoft.com/office/powerpoint/2010/main" val="1533004229"/>
              </p:ext>
            </p:extLst>
          </p:nvPr>
        </p:nvGraphicFramePr>
        <p:xfrm>
          <a:off x="743501" y="1861641"/>
          <a:ext cx="7777645" cy="2337435"/>
        </p:xfrm>
        <a:graphic>
          <a:graphicData uri="http://schemas.openxmlformats.org/drawingml/2006/table">
            <a:tbl>
              <a:tblPr/>
              <a:tblGrid>
                <a:gridCol w="1415668">
                  <a:extLst>
                    <a:ext uri="{9D8B030D-6E8A-4147-A177-3AD203B41FA5}">
                      <a16:colId xmlns:a16="http://schemas.microsoft.com/office/drawing/2014/main" val="1448024210"/>
                    </a:ext>
                  </a:extLst>
                </a:gridCol>
                <a:gridCol w="6361977">
                  <a:extLst>
                    <a:ext uri="{9D8B030D-6E8A-4147-A177-3AD203B41FA5}">
                      <a16:colId xmlns:a16="http://schemas.microsoft.com/office/drawing/2014/main" val="782205022"/>
                    </a:ext>
                  </a:extLst>
                </a:gridCol>
              </a:tblGrid>
              <a:tr h="190500">
                <a:tc>
                  <a:txBody>
                    <a:bodyPr/>
                    <a:lstStyle/>
                    <a:p>
                      <a:pPr algn="ctr" fontAlgn="b"/>
                      <a:r>
                        <a:rPr lang="en-IN" sz="1600" b="0" i="0" u="none" strike="noStrike">
                          <a:solidFill>
                            <a:srgbClr val="333333"/>
                          </a:solidFill>
                          <a:effectLst/>
                          <a:latin typeface="Calibri" panose="020F0502020204030204" pitchFamily="34" charset="0"/>
                        </a:rPr>
                        <a:t>Num-PgDn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End - move cursor to bottom right corner of screen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315985"/>
                  </a:ext>
                </a:extLst>
              </a:tr>
              <a:tr h="190500">
                <a:tc>
                  <a:txBody>
                    <a:bodyPr/>
                    <a:lstStyle/>
                    <a:p>
                      <a:pPr algn="ctr" fontAlgn="b"/>
                      <a:r>
                        <a:rPr lang="en-IN" sz="1600" b="0" i="0" u="none" strike="noStrike">
                          <a:solidFill>
                            <a:srgbClr val="333333"/>
                          </a:solidFill>
                          <a:effectLst/>
                          <a:latin typeface="Calibri" panose="020F0502020204030204" pitchFamily="34" charset="0"/>
                        </a:rPr>
                        <a:t>Arrow keys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Move cursor up, down, left, right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019888"/>
                  </a:ext>
                </a:extLst>
              </a:tr>
              <a:tr h="381000">
                <a:tc>
                  <a:txBody>
                    <a:bodyPr/>
                    <a:lstStyle/>
                    <a:p>
                      <a:pPr algn="ctr" fontAlgn="b"/>
                      <a:r>
                        <a:rPr lang="en-IN" sz="1600" b="0" i="0" u="none" strike="noStrike">
                          <a:solidFill>
                            <a:srgbClr val="333333"/>
                          </a:solidFill>
                          <a:effectLst/>
                          <a:latin typeface="Calibri" panose="020F0502020204030204" pitchFamily="34" charset="0"/>
                        </a:rPr>
                        <a:t>Num-arrow keys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Pan up, down, left, right, i.e., move cursor 1/2 of the screen in selected direction</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7317054"/>
                  </a:ext>
                </a:extLst>
              </a:tr>
              <a:tr h="190500">
                <a:tc>
                  <a:txBody>
                    <a:bodyPr/>
                    <a:lstStyle/>
                    <a:p>
                      <a:pPr algn="ctr" fontAlgn="b"/>
                      <a:r>
                        <a:rPr lang="en-IN" sz="1600" b="0" i="0" u="none" strike="noStrike">
                          <a:solidFill>
                            <a:srgbClr val="333333"/>
                          </a:solidFill>
                          <a:effectLst/>
                          <a:latin typeface="Calibri" panose="020F0502020204030204" pitchFamily="34" charset="0"/>
                        </a:rPr>
                        <a:t>PrScr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Display graphic of key mapping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69246083"/>
                  </a:ext>
                </a:extLst>
              </a:tr>
              <a:tr h="190500">
                <a:tc>
                  <a:txBody>
                    <a:bodyPr/>
                    <a:lstStyle/>
                    <a:p>
                      <a:pPr algn="ctr" fontAlgn="b"/>
                      <a:r>
                        <a:rPr lang="en-IN" sz="1600" b="0" i="0" u="none" strike="noStrike">
                          <a:solidFill>
                            <a:srgbClr val="333333"/>
                          </a:solidFill>
                          <a:effectLst/>
                          <a:latin typeface="Calibri" panose="020F0502020204030204" pitchFamily="34" charset="0"/>
                        </a:rPr>
                        <a:t>Pause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a:solidFill>
                            <a:srgbClr val="333333"/>
                          </a:solidFill>
                          <a:effectLst/>
                          <a:latin typeface="Calibri" panose="020F0502020204030204" pitchFamily="34" charset="0"/>
                        </a:rPr>
                        <a:t>Report writer functions, i.e., command, file, edit, format, print, select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11867270"/>
                  </a:ext>
                </a:extLst>
              </a:tr>
              <a:tr h="190500">
                <a:tc>
                  <a:txBody>
                    <a:bodyPr/>
                    <a:lstStyle/>
                    <a:p>
                      <a:pPr algn="ctr" fontAlgn="b"/>
                      <a:r>
                        <a:rPr lang="en-IN" sz="1600" b="0" i="0" u="none" strike="noStrike">
                          <a:solidFill>
                            <a:srgbClr val="333333"/>
                          </a:solidFill>
                          <a:effectLst/>
                          <a:latin typeface="Calibri" panose="020F0502020204030204" pitchFamily="34" charset="0"/>
                        </a:rPr>
                        <a:t>F11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Escape/quit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14087468"/>
                  </a:ext>
                </a:extLst>
              </a:tr>
              <a:tr h="190500">
                <a:tc>
                  <a:txBody>
                    <a:bodyPr/>
                    <a:lstStyle/>
                    <a:p>
                      <a:pPr algn="ctr" fontAlgn="b"/>
                      <a:r>
                        <a:rPr lang="en-IN" sz="1600" b="0" i="0" u="none" strike="noStrike">
                          <a:solidFill>
                            <a:srgbClr val="333333"/>
                          </a:solidFill>
                          <a:effectLst/>
                          <a:latin typeface="Calibri" panose="020F0502020204030204" pitchFamily="34" charset="0"/>
                        </a:rPr>
                        <a:t>Tab</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IN" sz="1600" b="0" i="0" u="none" strike="noStrike" dirty="0">
                          <a:solidFill>
                            <a:srgbClr val="333333"/>
                          </a:solidFill>
                          <a:effectLst/>
                          <a:latin typeface="Calibri" panose="020F0502020204030204" pitchFamily="34" charset="0"/>
                        </a:rPr>
                        <a:t>Move to next object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2356286"/>
                  </a:ext>
                </a:extLst>
              </a:tr>
            </a:tbl>
          </a:graphicData>
        </a:graphic>
      </p:graphicFrame>
    </p:spTree>
    <p:extLst>
      <p:ext uri="{BB962C8B-B14F-4D97-AF65-F5344CB8AC3E}">
        <p14:creationId xmlns:p14="http://schemas.microsoft.com/office/powerpoint/2010/main" val="2633033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B0FC1D9-5DEE-4413-8B45-23B9FA609218}"/>
              </a:ext>
            </a:extLst>
          </p:cNvPr>
          <p:cNvSpPr>
            <a:spLocks noGrp="1" noChangeArrowheads="1"/>
          </p:cNvSpPr>
          <p:nvPr>
            <p:ph type="title"/>
          </p:nvPr>
        </p:nvSpPr>
        <p:spPr/>
        <p:txBody>
          <a:bodyPr/>
          <a:lstStyle/>
          <a:p>
            <a:r>
              <a:rPr lang="en-US" altLang="en-US" dirty="0"/>
              <a:t>Adding data item</a:t>
            </a:r>
          </a:p>
        </p:txBody>
      </p:sp>
      <p:sp>
        <p:nvSpPr>
          <p:cNvPr id="38915" name="Rectangle 3">
            <a:extLst>
              <a:ext uri="{FF2B5EF4-FFF2-40B4-BE49-F238E27FC236}">
                <a16:creationId xmlns:a16="http://schemas.microsoft.com/office/drawing/2014/main" id="{2AB18867-30CF-4725-AB86-27620531C288}"/>
              </a:ext>
            </a:extLst>
          </p:cNvPr>
          <p:cNvSpPr>
            <a:spLocks noGrp="1" noChangeArrowheads="1"/>
          </p:cNvSpPr>
          <p:nvPr>
            <p:ph type="body" idx="1"/>
          </p:nvPr>
        </p:nvSpPr>
        <p:spPr>
          <a:xfrm>
            <a:off x="381000" y="1300163"/>
            <a:ext cx="8305800" cy="4438650"/>
          </a:xfrm>
        </p:spPr>
        <p:txBody>
          <a:bodyPr/>
          <a:lstStyle/>
          <a:p>
            <a:pPr marL="609600" indent="-609600"/>
            <a:r>
              <a:rPr lang="en-US" altLang="en-US" sz="2000" dirty="0"/>
              <a:t>Data Item - Places Data Items on the report.</a:t>
            </a:r>
          </a:p>
          <a:p>
            <a:pPr marL="609600" indent="-609600"/>
            <a:r>
              <a:rPr lang="en-US" altLang="en-US" sz="2000" dirty="0"/>
              <a:t>Data Items may be accessed from any one of the access files.</a:t>
            </a:r>
          </a:p>
          <a:p>
            <a:pPr marL="609600" indent="-609600"/>
            <a:r>
              <a:rPr lang="en-US" altLang="en-US" sz="2000" dirty="0"/>
              <a:t>If the item appears in more than one file, DATA QWIK will prompt the user to select a specific file.</a:t>
            </a:r>
          </a:p>
          <a:p>
            <a:pPr marL="609600" indent="-609600"/>
            <a:r>
              <a:rPr lang="en-US" altLang="en-US" sz="2000" dirty="0"/>
              <a:t>Key used:</a:t>
            </a:r>
            <a:r>
              <a:rPr lang="en-US" altLang="en-US" sz="2400" b="1" dirty="0"/>
              <a:t> / </a:t>
            </a:r>
            <a:r>
              <a:rPr lang="en-US" altLang="en-US" sz="2000" dirty="0"/>
              <a:t>(Numeric Keypad)</a:t>
            </a:r>
            <a:endParaRPr lang="en-US" altLang="en-US" sz="2000" b="1" dirty="0"/>
          </a:p>
        </p:txBody>
      </p:sp>
      <p:pic>
        <p:nvPicPr>
          <p:cNvPr id="38916" name="Picture 4">
            <a:extLst>
              <a:ext uri="{FF2B5EF4-FFF2-40B4-BE49-F238E27FC236}">
                <a16:creationId xmlns:a16="http://schemas.microsoft.com/office/drawing/2014/main" id="{544B20FC-4114-4CF7-95AA-FA14E19AA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9231" r="6410" b="7692"/>
          <a:stretch>
            <a:fillRect/>
          </a:stretch>
        </p:blipFill>
        <p:spPr bwMode="auto">
          <a:xfrm>
            <a:off x="1073425" y="3300412"/>
            <a:ext cx="7735907" cy="14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DBFB2E0-3B6F-403F-882B-272DAA3967FD}"/>
              </a:ext>
            </a:extLst>
          </p:cNvPr>
          <p:cNvPicPr>
            <a:picLocks noChangeAspect="1"/>
          </p:cNvPicPr>
          <p:nvPr/>
        </p:nvPicPr>
        <p:blipFill>
          <a:blip r:embed="rId3"/>
          <a:stretch>
            <a:fillRect/>
          </a:stretch>
        </p:blipFill>
        <p:spPr>
          <a:xfrm>
            <a:off x="2217877" y="4871314"/>
            <a:ext cx="4259123" cy="1371393"/>
          </a:xfrm>
          <a:prstGeom prst="rect">
            <a:avLst/>
          </a:prstGeom>
        </p:spPr>
      </p:pic>
    </p:spTree>
    <p:extLst>
      <p:ext uri="{BB962C8B-B14F-4D97-AF65-F5344CB8AC3E}">
        <p14:creationId xmlns:p14="http://schemas.microsoft.com/office/powerpoint/2010/main" val="1254491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A38BA77-4823-47FF-87B2-CCD4755D0298}"/>
              </a:ext>
            </a:extLst>
          </p:cNvPr>
          <p:cNvSpPr>
            <a:spLocks noGrp="1" noChangeArrowheads="1"/>
          </p:cNvSpPr>
          <p:nvPr>
            <p:ph type="title"/>
          </p:nvPr>
        </p:nvSpPr>
        <p:spPr/>
        <p:txBody>
          <a:bodyPr/>
          <a:lstStyle/>
          <a:p>
            <a:r>
              <a:rPr lang="en-US" altLang="en-US"/>
              <a:t>Adding functions</a:t>
            </a:r>
          </a:p>
        </p:txBody>
      </p:sp>
      <p:sp>
        <p:nvSpPr>
          <p:cNvPr id="39939" name="Rectangle 3">
            <a:extLst>
              <a:ext uri="{FF2B5EF4-FFF2-40B4-BE49-F238E27FC236}">
                <a16:creationId xmlns:a16="http://schemas.microsoft.com/office/drawing/2014/main" id="{31E7F9A5-14A4-4242-BD99-5B51D440192A}"/>
              </a:ext>
            </a:extLst>
          </p:cNvPr>
          <p:cNvSpPr>
            <a:spLocks noGrp="1" noChangeArrowheads="1"/>
          </p:cNvSpPr>
          <p:nvPr>
            <p:ph type="body" sz="half" idx="1"/>
          </p:nvPr>
        </p:nvSpPr>
        <p:spPr>
          <a:xfrm>
            <a:off x="457200" y="1600200"/>
            <a:ext cx="8077200" cy="1219200"/>
          </a:xfrm>
        </p:spPr>
        <p:txBody>
          <a:bodyPr/>
          <a:lstStyle/>
          <a:p>
            <a:r>
              <a:rPr lang="en-US" altLang="en-US" sz="2000" i="1" dirty="0"/>
              <a:t>Function</a:t>
            </a:r>
            <a:r>
              <a:rPr lang="en-US" altLang="en-US" sz="2000" dirty="0"/>
              <a:t> - Selects a function to be placed in the OOE. </a:t>
            </a:r>
          </a:p>
        </p:txBody>
      </p:sp>
      <p:graphicFrame>
        <p:nvGraphicFramePr>
          <p:cNvPr id="39940" name="Group 4">
            <a:extLst>
              <a:ext uri="{FF2B5EF4-FFF2-40B4-BE49-F238E27FC236}">
                <a16:creationId xmlns:a16="http://schemas.microsoft.com/office/drawing/2014/main" id="{1FCF929C-60C4-45EC-A906-6AAFBAE50028}"/>
              </a:ext>
            </a:extLst>
          </p:cNvPr>
          <p:cNvGraphicFramePr>
            <a:graphicFrameLocks noGrp="1"/>
          </p:cNvGraphicFramePr>
          <p:nvPr>
            <p:ph sz="half" idx="2"/>
            <p:extLst>
              <p:ext uri="{D42A27DB-BD31-4B8C-83A1-F6EECF244321}">
                <p14:modId xmlns:p14="http://schemas.microsoft.com/office/powerpoint/2010/main" val="397607930"/>
              </p:ext>
            </p:extLst>
          </p:nvPr>
        </p:nvGraphicFramePr>
        <p:xfrm>
          <a:off x="914400" y="2153478"/>
          <a:ext cx="7772400" cy="2620965"/>
        </p:xfrm>
        <a:graphic>
          <a:graphicData uri="http://schemas.openxmlformats.org/drawingml/2006/table">
            <a:tbl>
              <a:tblPr/>
              <a:tblGrid>
                <a:gridCol w="1447800">
                  <a:extLst>
                    <a:ext uri="{9D8B030D-6E8A-4147-A177-3AD203B41FA5}">
                      <a16:colId xmlns:a16="http://schemas.microsoft.com/office/drawing/2014/main" val="4237579785"/>
                    </a:ext>
                  </a:extLst>
                </a:gridCol>
                <a:gridCol w="6324600">
                  <a:extLst>
                    <a:ext uri="{9D8B030D-6E8A-4147-A177-3AD203B41FA5}">
                      <a16:colId xmlns:a16="http://schemas.microsoft.com/office/drawing/2014/main" val="305332156"/>
                    </a:ext>
                  </a:extLst>
                </a:gridCol>
              </a:tblGrid>
              <a:tr h="4365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Function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2388437327"/>
                  </a:ext>
                </a:extLst>
              </a:tr>
              <a:tr h="4365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Total of a numeric or currency field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6336374"/>
                  </a:ext>
                </a:extLst>
              </a:tr>
              <a:tr h="43815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Count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Count of the items in a group or report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1995514"/>
                  </a:ext>
                </a:extLst>
              </a:tr>
              <a:tr h="4365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Minimum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Minimum of the items in a group or report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99077244"/>
                  </a:ext>
                </a:extLst>
              </a:tr>
              <a:tr h="4365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Maximum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Maximum of the items in a group or report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4294106"/>
                  </a:ext>
                </a:extLst>
              </a:tr>
              <a:tr h="43656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Average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Average of the items in a group or report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8711552"/>
                  </a:ext>
                </a:extLst>
              </a:tr>
            </a:tbl>
          </a:graphicData>
        </a:graphic>
      </p:graphicFrame>
      <p:pic>
        <p:nvPicPr>
          <p:cNvPr id="2" name="Picture 1">
            <a:extLst>
              <a:ext uri="{FF2B5EF4-FFF2-40B4-BE49-F238E27FC236}">
                <a16:creationId xmlns:a16="http://schemas.microsoft.com/office/drawing/2014/main" id="{DF3B0267-FC69-49D5-ACDE-69B5E60A589E}"/>
              </a:ext>
            </a:extLst>
          </p:cNvPr>
          <p:cNvPicPr>
            <a:picLocks noChangeAspect="1"/>
          </p:cNvPicPr>
          <p:nvPr/>
        </p:nvPicPr>
        <p:blipFill>
          <a:blip r:embed="rId2"/>
          <a:stretch>
            <a:fillRect/>
          </a:stretch>
        </p:blipFill>
        <p:spPr>
          <a:xfrm>
            <a:off x="2012259" y="4938782"/>
            <a:ext cx="4708486" cy="1448765"/>
          </a:xfrm>
          <a:prstGeom prst="rect">
            <a:avLst/>
          </a:prstGeom>
        </p:spPr>
      </p:pic>
    </p:spTree>
    <p:extLst>
      <p:ext uri="{BB962C8B-B14F-4D97-AF65-F5344CB8AC3E}">
        <p14:creationId xmlns:p14="http://schemas.microsoft.com/office/powerpoint/2010/main" val="258832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2FE6F69-CD74-46AB-B22A-0769BB8D3E1E}"/>
              </a:ext>
            </a:extLst>
          </p:cNvPr>
          <p:cNvSpPr>
            <a:spLocks noGrp="1" noChangeArrowheads="1"/>
          </p:cNvSpPr>
          <p:nvPr>
            <p:ph type="title"/>
          </p:nvPr>
        </p:nvSpPr>
        <p:spPr/>
        <p:txBody>
          <a:bodyPr/>
          <a:lstStyle/>
          <a:p>
            <a:r>
              <a:rPr lang="en-US" altLang="en-US" dirty="0"/>
              <a:t>Variable/Expression</a:t>
            </a:r>
          </a:p>
        </p:txBody>
      </p:sp>
      <p:sp>
        <p:nvSpPr>
          <p:cNvPr id="40963" name="Rectangle 3">
            <a:extLst>
              <a:ext uri="{FF2B5EF4-FFF2-40B4-BE49-F238E27FC236}">
                <a16:creationId xmlns:a16="http://schemas.microsoft.com/office/drawing/2014/main" id="{27CF9BC4-28AE-45FE-AF36-2E84863722A2}"/>
              </a:ext>
            </a:extLst>
          </p:cNvPr>
          <p:cNvSpPr>
            <a:spLocks noGrp="1" noChangeArrowheads="1"/>
          </p:cNvSpPr>
          <p:nvPr>
            <p:ph type="body" sz="half" idx="1"/>
          </p:nvPr>
        </p:nvSpPr>
        <p:spPr>
          <a:xfrm>
            <a:off x="457200" y="1600200"/>
            <a:ext cx="8395252" cy="1249017"/>
          </a:xfrm>
        </p:spPr>
        <p:txBody>
          <a:bodyPr/>
          <a:lstStyle/>
          <a:p>
            <a:pPr algn="just"/>
            <a:r>
              <a:rPr lang="en-US" altLang="en-US" sz="2000" dirty="0"/>
              <a:t>Variable/Expression - By selecting this option, users can enter any of the existing variables listed below or create a variable by depressing the Other key.</a:t>
            </a:r>
          </a:p>
          <a:p>
            <a:pPr algn="just"/>
            <a:endParaRPr lang="en-US" altLang="en-US" sz="2000" dirty="0"/>
          </a:p>
        </p:txBody>
      </p:sp>
      <p:graphicFrame>
        <p:nvGraphicFramePr>
          <p:cNvPr id="40964" name="Group 4">
            <a:extLst>
              <a:ext uri="{FF2B5EF4-FFF2-40B4-BE49-F238E27FC236}">
                <a16:creationId xmlns:a16="http://schemas.microsoft.com/office/drawing/2014/main" id="{94E2F52B-A51C-4E74-BE91-98B8D3E86679}"/>
              </a:ext>
            </a:extLst>
          </p:cNvPr>
          <p:cNvGraphicFramePr>
            <a:graphicFrameLocks noGrp="1"/>
          </p:cNvGraphicFramePr>
          <p:nvPr>
            <p:ph sz="half" idx="2"/>
            <p:extLst>
              <p:ext uri="{D42A27DB-BD31-4B8C-83A1-F6EECF244321}">
                <p14:modId xmlns:p14="http://schemas.microsoft.com/office/powerpoint/2010/main" val="817921555"/>
              </p:ext>
            </p:extLst>
          </p:nvPr>
        </p:nvGraphicFramePr>
        <p:xfrm>
          <a:off x="1706217" y="2713726"/>
          <a:ext cx="5410200" cy="3295650"/>
        </p:xfrm>
        <a:graphic>
          <a:graphicData uri="http://schemas.openxmlformats.org/drawingml/2006/table">
            <a:tbl>
              <a:tblPr/>
              <a:tblGrid>
                <a:gridCol w="2057400">
                  <a:extLst>
                    <a:ext uri="{9D8B030D-6E8A-4147-A177-3AD203B41FA5}">
                      <a16:colId xmlns:a16="http://schemas.microsoft.com/office/drawing/2014/main" val="1960690377"/>
                    </a:ext>
                  </a:extLst>
                </a:gridCol>
                <a:gridCol w="3352800">
                  <a:extLst>
                    <a:ext uri="{9D8B030D-6E8A-4147-A177-3AD203B41FA5}">
                      <a16:colId xmlns:a16="http://schemas.microsoft.com/office/drawing/2014/main" val="2450711183"/>
                    </a:ext>
                  </a:extLst>
                </a:gridCol>
              </a:tblGrid>
              <a:tr h="3048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Variable/Expression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Description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37766268"/>
                  </a:ext>
                </a:extLst>
              </a:tr>
              <a:tr h="2746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Other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User defined variable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796298278"/>
                  </a:ext>
                </a:extLst>
              </a:tr>
              <a:tr h="32067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Run_Date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Date being run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810585326"/>
                  </a:ext>
                </a:extLst>
              </a:tr>
              <a:tr h="29051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System_Date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Date of System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9533714"/>
                  </a:ext>
                </a:extLst>
              </a:tr>
              <a:tr h="26035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Time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Time of System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68118565"/>
                  </a:ext>
                </a:extLst>
              </a:tr>
              <a:tr h="3063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Page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Page Number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20186260"/>
                  </a:ext>
                </a:extLst>
              </a:tr>
              <a:tr h="35242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Report_Name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Report Description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3664375"/>
                  </a:ext>
                </a:extLst>
              </a:tr>
              <a:tr h="35242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Report_ID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Report Identification (e.g. SCA034)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8015050"/>
                  </a:ext>
                </a:extLst>
              </a:tr>
              <a:tr h="35242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Inst_Name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Name of the Institution (from Inst. Variables)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045683024"/>
                  </a:ext>
                </a:extLst>
              </a:tr>
            </a:tbl>
          </a:graphicData>
        </a:graphic>
      </p:graphicFrame>
    </p:spTree>
    <p:extLst>
      <p:ext uri="{BB962C8B-B14F-4D97-AF65-F5344CB8AC3E}">
        <p14:creationId xmlns:p14="http://schemas.microsoft.com/office/powerpoint/2010/main" val="2776211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76F4ECB-7931-4548-88F5-8C086F5455F3}"/>
              </a:ext>
            </a:extLst>
          </p:cNvPr>
          <p:cNvSpPr>
            <a:spLocks noGrp="1" noChangeArrowheads="1"/>
          </p:cNvSpPr>
          <p:nvPr>
            <p:ph type="title"/>
          </p:nvPr>
        </p:nvSpPr>
        <p:spPr>
          <a:xfrm>
            <a:off x="381000" y="361950"/>
            <a:ext cx="6096000" cy="838200"/>
          </a:xfrm>
        </p:spPr>
        <p:txBody>
          <a:bodyPr/>
          <a:lstStyle/>
          <a:p>
            <a:r>
              <a:rPr lang="en-US" altLang="en-US" dirty="0"/>
              <a:t>Creating a variable outside of file</a:t>
            </a:r>
          </a:p>
        </p:txBody>
      </p:sp>
      <p:sp>
        <p:nvSpPr>
          <p:cNvPr id="41987" name="Rectangle 3">
            <a:extLst>
              <a:ext uri="{FF2B5EF4-FFF2-40B4-BE49-F238E27FC236}">
                <a16:creationId xmlns:a16="http://schemas.microsoft.com/office/drawing/2014/main" id="{13E48AD6-4998-4D12-A1CE-F5203D3BDFBD}"/>
              </a:ext>
            </a:extLst>
          </p:cNvPr>
          <p:cNvSpPr>
            <a:spLocks noGrp="1" noChangeArrowheads="1"/>
          </p:cNvSpPr>
          <p:nvPr>
            <p:ph type="body" idx="1"/>
          </p:nvPr>
        </p:nvSpPr>
        <p:spPr/>
        <p:txBody>
          <a:bodyPr/>
          <a:lstStyle/>
          <a:p>
            <a:r>
              <a:rPr lang="en-US" altLang="en-US" sz="2000" dirty="0"/>
              <a:t>Select Var/Expr from menu</a:t>
            </a:r>
          </a:p>
          <a:p>
            <a:r>
              <a:rPr lang="en-US" altLang="en-US" sz="2000" dirty="0"/>
              <a:t>Modify pre processor to set the variable’s value.</a:t>
            </a:r>
          </a:p>
          <a:p>
            <a:endParaRPr lang="en-US" altLang="en-US" sz="2000" dirty="0"/>
          </a:p>
          <a:p>
            <a:endParaRPr lang="en-US" altLang="en-US" sz="2000" dirty="0"/>
          </a:p>
          <a:p>
            <a:endParaRPr lang="en-US" altLang="en-US" sz="2000" dirty="0"/>
          </a:p>
          <a:p>
            <a:endParaRPr lang="en-US" altLang="en-US" sz="2000" dirty="0"/>
          </a:p>
          <a:p>
            <a:r>
              <a:rPr lang="en-US" altLang="en-US" sz="2000" dirty="0"/>
              <a:t>Note: one space from the margin is required in the pre and post processors.</a:t>
            </a:r>
          </a:p>
        </p:txBody>
      </p:sp>
      <p:pic>
        <p:nvPicPr>
          <p:cNvPr id="41988" name="Picture 4">
            <a:extLst>
              <a:ext uri="{FF2B5EF4-FFF2-40B4-BE49-F238E27FC236}">
                <a16:creationId xmlns:a16="http://schemas.microsoft.com/office/drawing/2014/main" id="{9F052260-B058-4434-ABDF-989D308FA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437" t="58974" r="2563" b="23077"/>
          <a:stretch>
            <a:fillRect/>
          </a:stretch>
        </p:blipFill>
        <p:spPr bwMode="auto">
          <a:xfrm>
            <a:off x="1586131" y="2647950"/>
            <a:ext cx="396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5">
            <a:extLst>
              <a:ext uri="{FF2B5EF4-FFF2-40B4-BE49-F238E27FC236}">
                <a16:creationId xmlns:a16="http://schemas.microsoft.com/office/drawing/2014/main" id="{6742E669-398F-4053-8208-8577371544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384" r="48362" b="61539"/>
          <a:stretch/>
        </p:blipFill>
        <p:spPr bwMode="auto">
          <a:xfrm>
            <a:off x="1473589" y="4514850"/>
            <a:ext cx="4617721" cy="154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8199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AB7C515-5675-48BA-90A3-8A400EE13526}"/>
              </a:ext>
            </a:extLst>
          </p:cNvPr>
          <p:cNvSpPr>
            <a:spLocks noGrp="1" noChangeArrowheads="1"/>
          </p:cNvSpPr>
          <p:nvPr>
            <p:ph type="title"/>
          </p:nvPr>
        </p:nvSpPr>
        <p:spPr/>
        <p:txBody>
          <a:bodyPr/>
          <a:lstStyle/>
          <a:p>
            <a:r>
              <a:rPr lang="en-US" altLang="en-US"/>
              <a:t>Adding Header information</a:t>
            </a:r>
          </a:p>
        </p:txBody>
      </p:sp>
      <p:sp>
        <p:nvSpPr>
          <p:cNvPr id="43011" name="Rectangle 3">
            <a:extLst>
              <a:ext uri="{FF2B5EF4-FFF2-40B4-BE49-F238E27FC236}">
                <a16:creationId xmlns:a16="http://schemas.microsoft.com/office/drawing/2014/main" id="{54693939-4C4D-474E-8A0B-628F3E104CF8}"/>
              </a:ext>
            </a:extLst>
          </p:cNvPr>
          <p:cNvSpPr>
            <a:spLocks noGrp="1" noChangeArrowheads="1"/>
          </p:cNvSpPr>
          <p:nvPr>
            <p:ph type="body" idx="1"/>
          </p:nvPr>
        </p:nvSpPr>
        <p:spPr>
          <a:xfrm>
            <a:off x="381000" y="1150454"/>
            <a:ext cx="8305800" cy="4438650"/>
          </a:xfrm>
        </p:spPr>
        <p:txBody>
          <a:bodyPr/>
          <a:lstStyle/>
          <a:p>
            <a:r>
              <a:rPr lang="en-US" altLang="en-US" dirty="0"/>
              <a:t>Select Header from list to insert default header information</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The following will be inserted:</a:t>
            </a:r>
          </a:p>
        </p:txBody>
      </p:sp>
      <p:pic>
        <p:nvPicPr>
          <p:cNvPr id="43012" name="Picture 4">
            <a:extLst>
              <a:ext uri="{FF2B5EF4-FFF2-40B4-BE49-F238E27FC236}">
                <a16:creationId xmlns:a16="http://schemas.microsoft.com/office/drawing/2014/main" id="{B92BB474-0A87-40FC-9F08-E1DA81034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820" r="2565" b="56410"/>
          <a:stretch>
            <a:fillRect/>
          </a:stretch>
        </p:blipFill>
        <p:spPr bwMode="auto">
          <a:xfrm>
            <a:off x="1023730" y="4008782"/>
            <a:ext cx="5791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5">
            <a:extLst>
              <a:ext uri="{FF2B5EF4-FFF2-40B4-BE49-F238E27FC236}">
                <a16:creationId xmlns:a16="http://schemas.microsoft.com/office/drawing/2014/main" id="{8D70A220-011D-49E9-ABF1-9C2B13ED3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4102" r="8974" b="7692"/>
          <a:stretch>
            <a:fillRect/>
          </a:stretch>
        </p:blipFill>
        <p:spPr bwMode="auto">
          <a:xfrm>
            <a:off x="1023730" y="1742661"/>
            <a:ext cx="54102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6067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61BB602-69FE-4AAD-861F-A670E7CC45AD}"/>
              </a:ext>
            </a:extLst>
          </p:cNvPr>
          <p:cNvSpPr>
            <a:spLocks noGrp="1" noChangeArrowheads="1"/>
          </p:cNvSpPr>
          <p:nvPr>
            <p:ph type="title"/>
          </p:nvPr>
        </p:nvSpPr>
        <p:spPr/>
        <p:txBody>
          <a:bodyPr/>
          <a:lstStyle/>
          <a:p>
            <a:r>
              <a:rPr lang="en-US" altLang="en-US"/>
              <a:t>Quick Layout</a:t>
            </a:r>
          </a:p>
        </p:txBody>
      </p:sp>
      <p:sp>
        <p:nvSpPr>
          <p:cNvPr id="44035" name="Rectangle 3">
            <a:extLst>
              <a:ext uri="{FF2B5EF4-FFF2-40B4-BE49-F238E27FC236}">
                <a16:creationId xmlns:a16="http://schemas.microsoft.com/office/drawing/2014/main" id="{32A5C502-2AE6-4399-856A-93071C9C2EB0}"/>
              </a:ext>
            </a:extLst>
          </p:cNvPr>
          <p:cNvSpPr>
            <a:spLocks noGrp="1" noChangeArrowheads="1"/>
          </p:cNvSpPr>
          <p:nvPr>
            <p:ph type="body" idx="1"/>
          </p:nvPr>
        </p:nvSpPr>
        <p:spPr>
          <a:xfrm>
            <a:off x="381000" y="1508263"/>
            <a:ext cx="8305800" cy="1977059"/>
          </a:xfrm>
        </p:spPr>
        <p:txBody>
          <a:bodyPr/>
          <a:lstStyle/>
          <a:p>
            <a:pPr marL="609600" indent="-609600"/>
            <a:r>
              <a:rPr lang="en-US" altLang="en-US" i="1" dirty="0"/>
              <a:t>Quick Layout</a:t>
            </a:r>
            <a:r>
              <a:rPr lang="en-US" altLang="en-US" dirty="0"/>
              <a:t> - The system will create a default report layout based on the Data Items entered at the prompt. </a:t>
            </a:r>
          </a:p>
          <a:p>
            <a:pPr marL="609600" indent="-609600"/>
            <a:r>
              <a:rPr lang="en-US" altLang="en-US" dirty="0"/>
              <a:t>Only Data Items can be entered in this method</a:t>
            </a:r>
          </a:p>
          <a:p>
            <a:pPr marL="609600" indent="-609600"/>
            <a:r>
              <a:rPr lang="en-US" altLang="en-US" dirty="0" err="1"/>
              <a:t>Qwik</a:t>
            </a:r>
            <a:r>
              <a:rPr lang="en-US" altLang="en-US" dirty="0"/>
              <a:t> Layout is used when converting </a:t>
            </a:r>
            <a:r>
              <a:rPr lang="en-US" altLang="en-US" dirty="0" err="1"/>
              <a:t>Qwik</a:t>
            </a:r>
            <a:r>
              <a:rPr lang="en-US" altLang="en-US" dirty="0"/>
              <a:t> Reports to Report Writer reports.</a:t>
            </a:r>
          </a:p>
        </p:txBody>
      </p:sp>
    </p:spTree>
    <p:extLst>
      <p:ext uri="{BB962C8B-B14F-4D97-AF65-F5344CB8AC3E}">
        <p14:creationId xmlns:p14="http://schemas.microsoft.com/office/powerpoint/2010/main" val="3089082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E74D2BC-7573-4E16-A6D9-507FC73FFDC2}"/>
              </a:ext>
            </a:extLst>
          </p:cNvPr>
          <p:cNvSpPr>
            <a:spLocks noGrp="1" noChangeArrowheads="1"/>
          </p:cNvSpPr>
          <p:nvPr>
            <p:ph type="title"/>
          </p:nvPr>
        </p:nvSpPr>
        <p:spPr/>
        <p:txBody>
          <a:bodyPr/>
          <a:lstStyle/>
          <a:p>
            <a:r>
              <a:rPr lang="en-US" altLang="en-US"/>
              <a:t>Blank Line Suppress</a:t>
            </a:r>
          </a:p>
        </p:txBody>
      </p:sp>
      <p:sp>
        <p:nvSpPr>
          <p:cNvPr id="45059" name="Rectangle 3">
            <a:extLst>
              <a:ext uri="{FF2B5EF4-FFF2-40B4-BE49-F238E27FC236}">
                <a16:creationId xmlns:a16="http://schemas.microsoft.com/office/drawing/2014/main" id="{D92CDD74-80D5-4019-920B-C15D1C508562}"/>
              </a:ext>
            </a:extLst>
          </p:cNvPr>
          <p:cNvSpPr>
            <a:spLocks noGrp="1" noChangeArrowheads="1"/>
          </p:cNvSpPr>
          <p:nvPr>
            <p:ph type="body" idx="1"/>
          </p:nvPr>
        </p:nvSpPr>
        <p:spPr>
          <a:xfrm>
            <a:off x="274983" y="1163707"/>
            <a:ext cx="8305800" cy="4438650"/>
          </a:xfrm>
        </p:spPr>
        <p:txBody>
          <a:bodyPr/>
          <a:lstStyle/>
          <a:p>
            <a:pPr algn="just">
              <a:lnSpc>
                <a:spcPct val="80000"/>
              </a:lnSpc>
            </a:pPr>
            <a:r>
              <a:rPr lang="en-US" altLang="en-US" sz="2000" dirty="0"/>
              <a:t>In some instances, certain Data Items may contain no data or are blank.  When a report attempts to retrieve data and there is none, a blank line will be returned and displayed on a report.</a:t>
            </a:r>
          </a:p>
          <a:p>
            <a:pPr algn="just">
              <a:lnSpc>
                <a:spcPct val="80000"/>
              </a:lnSpc>
            </a:pPr>
            <a:endParaRPr lang="en-US" altLang="en-US" sz="2000" dirty="0"/>
          </a:p>
          <a:p>
            <a:pPr algn="just">
              <a:lnSpc>
                <a:spcPct val="80000"/>
              </a:lnSpc>
            </a:pPr>
            <a:r>
              <a:rPr lang="en-US" altLang="en-US" sz="2000" dirty="0"/>
              <a:t>DATA-QWIK’s Report Writer contains </a:t>
            </a:r>
            <a:r>
              <a:rPr lang="en-US" altLang="en-US" sz="2000" i="1" dirty="0"/>
              <a:t>Blank Line Suppress</a:t>
            </a:r>
            <a:r>
              <a:rPr lang="en-US" altLang="en-US" sz="2000" dirty="0"/>
              <a:t> functionality.  This functionality allows users to suppress blank lines.  In other words, ‘do not display Data Items that contain no data.  This will eliminate unintentional blank lines in a report.</a:t>
            </a:r>
          </a:p>
          <a:p>
            <a:pPr algn="just">
              <a:lnSpc>
                <a:spcPct val="80000"/>
              </a:lnSpc>
            </a:pPr>
            <a:endParaRPr lang="en-US" altLang="en-US" sz="2000" dirty="0"/>
          </a:p>
          <a:p>
            <a:pPr algn="just">
              <a:lnSpc>
                <a:spcPct val="80000"/>
              </a:lnSpc>
            </a:pPr>
            <a:r>
              <a:rPr lang="en-US" altLang="en-US" sz="2000" dirty="0"/>
              <a:t>To suppress blank lines while in the OOE of </a:t>
            </a:r>
            <a:r>
              <a:rPr lang="en-US" altLang="en-US" sz="2000" i="1" dirty="0"/>
              <a:t>Report Writer</a:t>
            </a:r>
            <a:r>
              <a:rPr lang="en-US" altLang="en-US" sz="2000" dirty="0"/>
              <a:t>:</a:t>
            </a:r>
          </a:p>
          <a:p>
            <a:pPr lvl="1" algn="just">
              <a:lnSpc>
                <a:spcPct val="80000"/>
              </a:lnSpc>
            </a:pPr>
            <a:r>
              <a:rPr lang="en-US" altLang="en-US" sz="2000" dirty="0"/>
              <a:t>Select </a:t>
            </a:r>
            <a:r>
              <a:rPr lang="en-US" altLang="en-US" sz="2000" i="1" dirty="0"/>
              <a:t>Blank_line_suppress</a:t>
            </a:r>
            <a:r>
              <a:rPr lang="en-US" altLang="en-US" sz="2000" dirty="0"/>
              <a:t>.</a:t>
            </a:r>
          </a:p>
          <a:p>
            <a:pPr lvl="1" algn="just">
              <a:lnSpc>
                <a:spcPct val="80000"/>
              </a:lnSpc>
            </a:pPr>
            <a:r>
              <a:rPr lang="en-US" altLang="en-US" sz="2000" dirty="0"/>
              <a:t>The user will be prompted to enter a line number (for suppressing a single blank line) or a range (from-to).</a:t>
            </a:r>
          </a:p>
          <a:p>
            <a:pPr lvl="1" algn="just">
              <a:lnSpc>
                <a:spcPct val="80000"/>
              </a:lnSpc>
            </a:pPr>
            <a:r>
              <a:rPr lang="en-US" altLang="en-US" sz="2000" dirty="0"/>
              <a:t>Enter the line number or numbers following the ruler on the left hand side of the OOE.  Use a comma to list a series of line numbers and a hyphen for a range of line numbers. </a:t>
            </a:r>
          </a:p>
        </p:txBody>
      </p:sp>
    </p:spTree>
    <p:extLst>
      <p:ext uri="{BB962C8B-B14F-4D97-AF65-F5344CB8AC3E}">
        <p14:creationId xmlns:p14="http://schemas.microsoft.com/office/powerpoint/2010/main" val="3415784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B644EF9-88E8-4F23-A790-DB35889EB8AC}"/>
              </a:ext>
            </a:extLst>
          </p:cNvPr>
          <p:cNvSpPr>
            <a:spLocks noGrp="1" noChangeArrowheads="1"/>
          </p:cNvSpPr>
          <p:nvPr>
            <p:ph type="title"/>
          </p:nvPr>
        </p:nvSpPr>
        <p:spPr/>
        <p:txBody>
          <a:bodyPr/>
          <a:lstStyle/>
          <a:p>
            <a:r>
              <a:rPr lang="en-US" altLang="en-US" dirty="0"/>
              <a:t>Prompts and Queries</a:t>
            </a:r>
          </a:p>
        </p:txBody>
      </p:sp>
      <p:sp>
        <p:nvSpPr>
          <p:cNvPr id="51203" name="Rectangle 3">
            <a:extLst>
              <a:ext uri="{FF2B5EF4-FFF2-40B4-BE49-F238E27FC236}">
                <a16:creationId xmlns:a16="http://schemas.microsoft.com/office/drawing/2014/main" id="{6DF7ECCF-D373-4264-BF35-0838F5F425D0}"/>
              </a:ext>
            </a:extLst>
          </p:cNvPr>
          <p:cNvSpPr>
            <a:spLocks noGrp="1" noChangeArrowheads="1"/>
          </p:cNvSpPr>
          <p:nvPr>
            <p:ph type="body" idx="1"/>
          </p:nvPr>
        </p:nvSpPr>
        <p:spPr>
          <a:xfrm>
            <a:off x="381000" y="1256472"/>
            <a:ext cx="8305800" cy="4438650"/>
          </a:xfrm>
        </p:spPr>
        <p:txBody>
          <a:bodyPr/>
          <a:lstStyle/>
          <a:p>
            <a:pPr marL="609600" indent="-609600" algn="just">
              <a:lnSpc>
                <a:spcPct val="80000"/>
              </a:lnSpc>
            </a:pPr>
            <a:r>
              <a:rPr lang="en-US" altLang="en-US" sz="2000" dirty="0"/>
              <a:t>Report Writer has the functionality to create dynamic reports.  This is accomplished with </a:t>
            </a:r>
            <a:r>
              <a:rPr lang="en-US" altLang="en-US" sz="2000" i="1" dirty="0"/>
              <a:t>Prompt/Queries</a:t>
            </a:r>
            <a:r>
              <a:rPr lang="en-US" altLang="en-US" sz="2000" dirty="0"/>
              <a:t>. </a:t>
            </a:r>
          </a:p>
          <a:p>
            <a:pPr marL="609600" indent="-609600" algn="just">
              <a:lnSpc>
                <a:spcPct val="80000"/>
              </a:lnSpc>
            </a:pPr>
            <a:r>
              <a:rPr lang="en-US" altLang="en-US" sz="2000" dirty="0"/>
              <a:t>Prompt/Queries consist of a subject, an operator, and a value.  There are three different ways to express a prompt or query, depending on how the prompt is appear to the user: </a:t>
            </a:r>
          </a:p>
          <a:p>
            <a:pPr marL="0" indent="0" algn="just">
              <a:lnSpc>
                <a:spcPct val="80000"/>
              </a:lnSpc>
              <a:buNone/>
            </a:pPr>
            <a:endParaRPr lang="en-US" altLang="en-US" sz="2000" dirty="0"/>
          </a:p>
          <a:p>
            <a:pPr marL="0" indent="0" algn="just">
              <a:lnSpc>
                <a:spcPct val="80000"/>
              </a:lnSpc>
              <a:buNone/>
            </a:pPr>
            <a:r>
              <a:rPr lang="en-US" altLang="en-US" sz="2000" dirty="0"/>
              <a:t>Queries</a:t>
            </a:r>
          </a:p>
          <a:p>
            <a:pPr marL="609600" indent="-609600" algn="just">
              <a:lnSpc>
                <a:spcPct val="80000"/>
              </a:lnSpc>
            </a:pPr>
            <a:r>
              <a:rPr lang="en-IN" altLang="en-US" sz="2000" dirty="0"/>
              <a:t>Queries are fixed conditions specified using the DATA-QWIK query syntax. This requires entry of column in the [TABLE]COLUMN syntax, and operator, and an operand. The table must be one of the tables specified for the report on the control page. The operand may be a literal value or a variable. Variables are indicated using a syntax of &lt;&lt;</a:t>
            </a:r>
            <a:r>
              <a:rPr lang="en-IN" altLang="en-US" sz="2000" dirty="0" err="1"/>
              <a:t>variableName</a:t>
            </a:r>
            <a:r>
              <a:rPr lang="en-IN" altLang="en-US" sz="2000" dirty="0"/>
              <a:t>&gt;&gt;. Multiple operations on the same line are allowed. </a:t>
            </a:r>
          </a:p>
          <a:p>
            <a:pPr marL="0" indent="0" algn="just">
              <a:lnSpc>
                <a:spcPct val="80000"/>
              </a:lnSpc>
              <a:buNone/>
            </a:pPr>
            <a:endParaRPr lang="en-IN" altLang="en-US" sz="2000" dirty="0"/>
          </a:p>
          <a:p>
            <a:pPr marL="0" indent="0" algn="just">
              <a:lnSpc>
                <a:spcPct val="80000"/>
              </a:lnSpc>
              <a:buNone/>
            </a:pPr>
            <a:r>
              <a:rPr lang="en-IN" altLang="en-US" sz="2000" dirty="0"/>
              <a:t>For example:</a:t>
            </a:r>
          </a:p>
          <a:p>
            <a:pPr marL="609600" indent="-609600" algn="just">
              <a:lnSpc>
                <a:spcPct val="80000"/>
              </a:lnSpc>
            </a:pPr>
            <a:endParaRPr lang="en-IN" altLang="en-US" sz="2000" dirty="0"/>
          </a:p>
          <a:p>
            <a:pPr marL="609600" indent="-609600" algn="just">
              <a:lnSpc>
                <a:spcPct val="80000"/>
              </a:lnSpc>
            </a:pPr>
            <a:r>
              <a:rPr lang="en-IN" altLang="en-US" sz="2000" dirty="0"/>
              <a:t>[DEP]CID&gt;1000 - select all accounts from DEP that are greater than 1000</a:t>
            </a:r>
            <a:endParaRPr lang="en-US" altLang="en-US" sz="2000" dirty="0"/>
          </a:p>
        </p:txBody>
      </p:sp>
    </p:spTree>
    <p:extLst>
      <p:ext uri="{BB962C8B-B14F-4D97-AF65-F5344CB8AC3E}">
        <p14:creationId xmlns:p14="http://schemas.microsoft.com/office/powerpoint/2010/main" val="420046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3A51EF8-CB74-4237-A86E-E12C60D6DB81}"/>
              </a:ext>
            </a:extLst>
          </p:cNvPr>
          <p:cNvSpPr>
            <a:spLocks noGrp="1" noChangeArrowheads="1"/>
          </p:cNvSpPr>
          <p:nvPr>
            <p:ph type="title"/>
          </p:nvPr>
        </p:nvSpPr>
        <p:spPr/>
        <p:txBody>
          <a:bodyPr/>
          <a:lstStyle/>
          <a:p>
            <a:r>
              <a:rPr lang="en-US" altLang="en-US"/>
              <a:t>Prompts</a:t>
            </a:r>
          </a:p>
        </p:txBody>
      </p:sp>
      <p:sp>
        <p:nvSpPr>
          <p:cNvPr id="52227" name="Rectangle 3">
            <a:extLst>
              <a:ext uri="{FF2B5EF4-FFF2-40B4-BE49-F238E27FC236}">
                <a16:creationId xmlns:a16="http://schemas.microsoft.com/office/drawing/2014/main" id="{B1CB93BA-9C50-4997-9466-6A6E608AC50F}"/>
              </a:ext>
            </a:extLst>
          </p:cNvPr>
          <p:cNvSpPr>
            <a:spLocks noGrp="1" noChangeArrowheads="1"/>
          </p:cNvSpPr>
          <p:nvPr>
            <p:ph type="body" idx="1"/>
          </p:nvPr>
        </p:nvSpPr>
        <p:spPr>
          <a:xfrm>
            <a:off x="381000" y="1229967"/>
            <a:ext cx="8305800" cy="4438650"/>
          </a:xfrm>
        </p:spPr>
        <p:txBody>
          <a:bodyPr/>
          <a:lstStyle/>
          <a:p>
            <a:pPr algn="just"/>
            <a:r>
              <a:rPr lang="en-IN" altLang="en-US" sz="2000" dirty="0"/>
              <a:t>In contrast to queries, which are fixed, prompts provide a means to get input from the user at run time.</a:t>
            </a:r>
          </a:p>
          <a:p>
            <a:pPr marL="0" indent="0" algn="just">
              <a:buNone/>
            </a:pPr>
            <a:endParaRPr lang="en-IN" altLang="en-US" sz="2000" dirty="0"/>
          </a:p>
          <a:p>
            <a:pPr marL="0" indent="0" algn="just">
              <a:buNone/>
            </a:pPr>
            <a:r>
              <a:rPr lang="en-IN" altLang="en-US" sz="2000" dirty="0"/>
              <a:t>For example, a report is required to show all history records for an account between a variable set of dates. In this case, three prompts would be used, one to ask for the account number, one to ask for the "from" date, and one to ask for the "to" date. The input to these prompts, at run time, would result in the creation of a SQL WHERE clause that would then be used for the report.</a:t>
            </a:r>
          </a:p>
          <a:p>
            <a:pPr marL="0" indent="0" algn="just">
              <a:buNone/>
            </a:pPr>
            <a:endParaRPr lang="en-IN" altLang="en-US" sz="2000" dirty="0"/>
          </a:p>
          <a:p>
            <a:pPr marL="0" indent="0" algn="just">
              <a:buNone/>
            </a:pPr>
            <a:r>
              <a:rPr lang="en-IN" altLang="en-US" sz="2000" dirty="0"/>
              <a:t>There are two types of prompts – </a:t>
            </a:r>
          </a:p>
          <a:p>
            <a:pPr marL="457200" indent="-457200" algn="just">
              <a:buAutoNum type="arabicPeriod"/>
            </a:pPr>
            <a:r>
              <a:rPr lang="en-IN" altLang="en-US" sz="2000" dirty="0"/>
              <a:t>single wildcard</a:t>
            </a:r>
          </a:p>
          <a:p>
            <a:pPr marL="457200" indent="-457200" algn="just">
              <a:buAutoNum type="arabicPeriod"/>
            </a:pPr>
            <a:r>
              <a:rPr lang="en-IN" altLang="en-US" sz="2000" dirty="0"/>
              <a:t>double wildcard</a:t>
            </a:r>
          </a:p>
          <a:p>
            <a:pPr marL="0" indent="0" algn="just">
              <a:buNone/>
            </a:pPr>
            <a:endParaRPr lang="en-US" altLang="en-US" sz="2000" dirty="0"/>
          </a:p>
          <a:p>
            <a:pPr algn="just"/>
            <a:endParaRPr lang="en-US" altLang="en-US" sz="2000" dirty="0"/>
          </a:p>
        </p:txBody>
      </p:sp>
    </p:spTree>
    <p:extLst>
      <p:ext uri="{BB962C8B-B14F-4D97-AF65-F5344CB8AC3E}">
        <p14:creationId xmlns:p14="http://schemas.microsoft.com/office/powerpoint/2010/main" val="1038746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3A51EF8-CB74-4237-A86E-E12C60D6DB81}"/>
              </a:ext>
            </a:extLst>
          </p:cNvPr>
          <p:cNvSpPr>
            <a:spLocks noGrp="1" noChangeArrowheads="1"/>
          </p:cNvSpPr>
          <p:nvPr>
            <p:ph type="title"/>
          </p:nvPr>
        </p:nvSpPr>
        <p:spPr/>
        <p:txBody>
          <a:bodyPr/>
          <a:lstStyle/>
          <a:p>
            <a:r>
              <a:rPr lang="en-US" altLang="en-US" dirty="0"/>
              <a:t>Prompts (cont.)</a:t>
            </a:r>
          </a:p>
        </p:txBody>
      </p:sp>
      <p:sp>
        <p:nvSpPr>
          <p:cNvPr id="52227" name="Rectangle 3">
            <a:extLst>
              <a:ext uri="{FF2B5EF4-FFF2-40B4-BE49-F238E27FC236}">
                <a16:creationId xmlns:a16="http://schemas.microsoft.com/office/drawing/2014/main" id="{B1CB93BA-9C50-4997-9466-6A6E608AC50F}"/>
              </a:ext>
            </a:extLst>
          </p:cNvPr>
          <p:cNvSpPr>
            <a:spLocks noGrp="1" noChangeArrowheads="1"/>
          </p:cNvSpPr>
          <p:nvPr>
            <p:ph type="body" idx="1"/>
          </p:nvPr>
        </p:nvSpPr>
        <p:spPr>
          <a:xfrm>
            <a:off x="381000" y="1229967"/>
            <a:ext cx="8305800" cy="4438650"/>
          </a:xfrm>
        </p:spPr>
        <p:txBody>
          <a:bodyPr/>
          <a:lstStyle/>
          <a:p>
            <a:pPr marL="0" indent="0" algn="just">
              <a:buNone/>
            </a:pPr>
            <a:r>
              <a:rPr lang="en-IN" altLang="en-US" sz="2000" b="1" dirty="0"/>
              <a:t>Single Wildcard Prompt</a:t>
            </a:r>
          </a:p>
          <a:p>
            <a:pPr marL="0" indent="0" algn="just">
              <a:buNone/>
            </a:pPr>
            <a:endParaRPr lang="en-IN" altLang="en-US" sz="2000" dirty="0"/>
          </a:p>
          <a:p>
            <a:pPr algn="just"/>
            <a:r>
              <a:rPr lang="en-IN" altLang="en-US" sz="2000" dirty="0"/>
              <a:t>A single wildcard prompt requires that the developer specify the [TABLE]COLUMN and the operator when defining the prompt. For example, column [DEP]BAL =, or [DEP]BAL &lt;=. The user, at run time, is expected to enter a single value for the operand, in the case of either of these examples, a single amount to be used.</a:t>
            </a:r>
          </a:p>
          <a:p>
            <a:pPr marL="0" indent="0" algn="just">
              <a:buNone/>
            </a:pPr>
            <a:endParaRPr lang="en-IN" altLang="en-US" sz="2000" dirty="0"/>
          </a:p>
          <a:p>
            <a:pPr algn="just"/>
            <a:r>
              <a:rPr lang="en-IN" altLang="en-US" sz="2000" dirty="0"/>
              <a:t>A single wildcard prompt is entered as [TABLE]COLUMN operator &lt;&lt;*&gt;&gt;, e.g., [DEP]BAL &gt; &lt;&lt;*&gt;&gt;</a:t>
            </a:r>
            <a:endParaRPr lang="en-US" altLang="en-US" sz="2000" dirty="0"/>
          </a:p>
          <a:p>
            <a:pPr algn="just"/>
            <a:endParaRPr lang="en-US" altLang="en-US" sz="2000" dirty="0"/>
          </a:p>
        </p:txBody>
      </p:sp>
    </p:spTree>
    <p:extLst>
      <p:ext uri="{BB962C8B-B14F-4D97-AF65-F5344CB8AC3E}">
        <p14:creationId xmlns:p14="http://schemas.microsoft.com/office/powerpoint/2010/main" val="2226630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3A51EF8-CB74-4237-A86E-E12C60D6DB81}"/>
              </a:ext>
            </a:extLst>
          </p:cNvPr>
          <p:cNvSpPr>
            <a:spLocks noGrp="1" noChangeArrowheads="1"/>
          </p:cNvSpPr>
          <p:nvPr>
            <p:ph type="title"/>
          </p:nvPr>
        </p:nvSpPr>
        <p:spPr/>
        <p:txBody>
          <a:bodyPr/>
          <a:lstStyle/>
          <a:p>
            <a:r>
              <a:rPr lang="en-US" altLang="en-US" dirty="0"/>
              <a:t>Prompts (cont.)</a:t>
            </a:r>
          </a:p>
        </p:txBody>
      </p:sp>
      <p:sp>
        <p:nvSpPr>
          <p:cNvPr id="52227" name="Rectangle 3">
            <a:extLst>
              <a:ext uri="{FF2B5EF4-FFF2-40B4-BE49-F238E27FC236}">
                <a16:creationId xmlns:a16="http://schemas.microsoft.com/office/drawing/2014/main" id="{B1CB93BA-9C50-4997-9466-6A6E608AC50F}"/>
              </a:ext>
            </a:extLst>
          </p:cNvPr>
          <p:cNvSpPr>
            <a:spLocks noGrp="1" noChangeArrowheads="1"/>
          </p:cNvSpPr>
          <p:nvPr>
            <p:ph type="body" idx="1"/>
          </p:nvPr>
        </p:nvSpPr>
        <p:spPr>
          <a:xfrm>
            <a:off x="381000" y="1229967"/>
            <a:ext cx="8305800" cy="4438650"/>
          </a:xfrm>
        </p:spPr>
        <p:txBody>
          <a:bodyPr/>
          <a:lstStyle/>
          <a:p>
            <a:pPr marL="0" indent="0" algn="just">
              <a:buNone/>
            </a:pPr>
            <a:r>
              <a:rPr lang="en-IN" altLang="en-US" sz="2000" b="1" dirty="0"/>
              <a:t>Double Wildcard Prompt</a:t>
            </a:r>
          </a:p>
          <a:p>
            <a:pPr marL="0" indent="0" algn="just">
              <a:buNone/>
            </a:pPr>
            <a:endParaRPr lang="en-IN" altLang="en-US" sz="2000" dirty="0"/>
          </a:p>
          <a:p>
            <a:pPr algn="just"/>
            <a:r>
              <a:rPr lang="en-IN" altLang="en-US" sz="2000" dirty="0"/>
              <a:t>A double wildcard prompt requires only that the [TABLE]COLUMN be specified when defining the prompt. Both the operator and the operand are entered at run time. This allows prompting for an account number for instance, and at run time the user can enter "=100" or "&gt;100 and &lt;200".</a:t>
            </a:r>
          </a:p>
          <a:p>
            <a:pPr algn="just"/>
            <a:endParaRPr lang="en-IN" altLang="en-US" sz="2000" dirty="0"/>
          </a:p>
          <a:p>
            <a:pPr algn="just"/>
            <a:r>
              <a:rPr lang="en-IN" altLang="en-US" sz="2000" dirty="0"/>
              <a:t>A double wildcard prompt is entered as [TABLE]COLUMN &lt;&lt;**&gt;&gt;, e.g., [DEP]BAL &gt; &lt;&lt;**&gt;&gt;</a:t>
            </a:r>
            <a:endParaRPr lang="en-US" altLang="en-US" sz="2000" dirty="0"/>
          </a:p>
        </p:txBody>
      </p:sp>
    </p:spTree>
    <p:extLst>
      <p:ext uri="{BB962C8B-B14F-4D97-AF65-F5344CB8AC3E}">
        <p14:creationId xmlns:p14="http://schemas.microsoft.com/office/powerpoint/2010/main" val="3698191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3A51EF8-CB74-4237-A86E-E12C60D6DB81}"/>
              </a:ext>
            </a:extLst>
          </p:cNvPr>
          <p:cNvSpPr>
            <a:spLocks noGrp="1" noChangeArrowheads="1"/>
          </p:cNvSpPr>
          <p:nvPr>
            <p:ph type="title"/>
          </p:nvPr>
        </p:nvSpPr>
        <p:spPr/>
        <p:txBody>
          <a:bodyPr/>
          <a:lstStyle/>
          <a:p>
            <a:r>
              <a:rPr lang="en-US" altLang="en-US" dirty="0"/>
              <a:t>Prompts (cont.)</a:t>
            </a:r>
          </a:p>
        </p:txBody>
      </p:sp>
      <p:sp>
        <p:nvSpPr>
          <p:cNvPr id="52227" name="Rectangle 3">
            <a:extLst>
              <a:ext uri="{FF2B5EF4-FFF2-40B4-BE49-F238E27FC236}">
                <a16:creationId xmlns:a16="http://schemas.microsoft.com/office/drawing/2014/main" id="{B1CB93BA-9C50-4997-9466-6A6E608AC50F}"/>
              </a:ext>
            </a:extLst>
          </p:cNvPr>
          <p:cNvSpPr>
            <a:spLocks noGrp="1" noChangeArrowheads="1"/>
          </p:cNvSpPr>
          <p:nvPr>
            <p:ph type="body" idx="1"/>
          </p:nvPr>
        </p:nvSpPr>
        <p:spPr>
          <a:xfrm>
            <a:off x="381000" y="1229967"/>
            <a:ext cx="8305800" cy="2825198"/>
          </a:xfrm>
        </p:spPr>
        <p:txBody>
          <a:bodyPr/>
          <a:lstStyle/>
          <a:p>
            <a:pPr marL="0" indent="0" algn="just">
              <a:buNone/>
            </a:pPr>
            <a:r>
              <a:rPr lang="en-IN" altLang="en-US" sz="2000" b="1" dirty="0"/>
              <a:t>Prompt for Variable</a:t>
            </a:r>
          </a:p>
          <a:p>
            <a:pPr marL="0" indent="0" algn="just">
              <a:buNone/>
            </a:pPr>
            <a:endParaRPr lang="en-IN" altLang="en-US" sz="2000" dirty="0"/>
          </a:p>
          <a:p>
            <a:pPr algn="just"/>
            <a:r>
              <a:rPr lang="en-IN" altLang="en-US" sz="2000" dirty="0"/>
              <a:t>A prompt can also require input of a value for a variable that will be used during report processing either in pre-/post-processor code or in further construction of a query.</a:t>
            </a:r>
          </a:p>
          <a:p>
            <a:pPr algn="just"/>
            <a:endParaRPr lang="en-IN" altLang="en-US" sz="2000" dirty="0"/>
          </a:p>
          <a:p>
            <a:pPr algn="just"/>
            <a:r>
              <a:rPr lang="en-IN" altLang="en-US" sz="2000" dirty="0"/>
              <a:t>A prompt for a variable is entered as &amp;&lt;&lt;</a:t>
            </a:r>
            <a:r>
              <a:rPr lang="en-IN" altLang="en-US" sz="2000" dirty="0" err="1"/>
              <a:t>variableName</a:t>
            </a:r>
            <a:r>
              <a:rPr lang="en-IN" altLang="en-US" sz="2000" dirty="0"/>
              <a:t>&gt;&gt;, e.g., &amp;&lt;&lt;</a:t>
            </a:r>
            <a:r>
              <a:rPr lang="en-IN" altLang="en-US" sz="2000" dirty="0" err="1"/>
              <a:t>toDate</a:t>
            </a:r>
            <a:r>
              <a:rPr lang="en-IN" altLang="en-US" sz="2000" dirty="0"/>
              <a:t>&gt;&gt;</a:t>
            </a:r>
            <a:endParaRPr lang="en-US" altLang="en-US" sz="2000" dirty="0"/>
          </a:p>
        </p:txBody>
      </p:sp>
    </p:spTree>
    <p:extLst>
      <p:ext uri="{BB962C8B-B14F-4D97-AF65-F5344CB8AC3E}">
        <p14:creationId xmlns:p14="http://schemas.microsoft.com/office/powerpoint/2010/main" val="1564985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1ED2264-14B7-4301-91D4-7812BCA29D81}"/>
              </a:ext>
            </a:extLst>
          </p:cNvPr>
          <p:cNvSpPr>
            <a:spLocks noGrp="1" noChangeArrowheads="1"/>
          </p:cNvSpPr>
          <p:nvPr>
            <p:ph type="title"/>
          </p:nvPr>
        </p:nvSpPr>
        <p:spPr/>
        <p:txBody>
          <a:bodyPr/>
          <a:lstStyle/>
          <a:p>
            <a:r>
              <a:rPr lang="en-US" altLang="en-US" dirty="0"/>
              <a:t>Prompts Qualifier</a:t>
            </a:r>
          </a:p>
        </p:txBody>
      </p:sp>
      <p:sp>
        <p:nvSpPr>
          <p:cNvPr id="53251" name="Rectangle 3">
            <a:extLst>
              <a:ext uri="{FF2B5EF4-FFF2-40B4-BE49-F238E27FC236}">
                <a16:creationId xmlns:a16="http://schemas.microsoft.com/office/drawing/2014/main" id="{7C0A0786-844C-4935-8D17-0E6D7A6939F6}"/>
              </a:ext>
            </a:extLst>
          </p:cNvPr>
          <p:cNvSpPr>
            <a:spLocks noGrp="1" noChangeArrowheads="1"/>
          </p:cNvSpPr>
          <p:nvPr>
            <p:ph type="body" idx="1"/>
          </p:nvPr>
        </p:nvSpPr>
        <p:spPr>
          <a:xfrm>
            <a:off x="381000" y="1033463"/>
            <a:ext cx="8305800" cy="5212592"/>
          </a:xfrm>
        </p:spPr>
        <p:txBody>
          <a:bodyPr/>
          <a:lstStyle/>
          <a:p>
            <a:pPr algn="just">
              <a:lnSpc>
                <a:spcPct val="90000"/>
              </a:lnSpc>
              <a:spcBef>
                <a:spcPts val="600"/>
              </a:spcBef>
              <a:spcAft>
                <a:spcPts val="600"/>
              </a:spcAft>
            </a:pPr>
            <a:r>
              <a:rPr lang="en-IN" altLang="en-US" sz="2000" dirty="0"/>
              <a:t>The report writer will generate a UTLREAD prompt to display at run time for each of the prompts entered. </a:t>
            </a:r>
          </a:p>
          <a:p>
            <a:pPr algn="just">
              <a:lnSpc>
                <a:spcPct val="90000"/>
              </a:lnSpc>
              <a:spcBef>
                <a:spcPts val="600"/>
              </a:spcBef>
              <a:spcAft>
                <a:spcPts val="600"/>
              </a:spcAft>
            </a:pPr>
            <a:r>
              <a:rPr lang="en-IN" altLang="en-US" sz="2000" dirty="0"/>
              <a:t>The attributes of the prompt are determined based on the column name specified or qualifiers that are entered with the prompt definition. </a:t>
            </a:r>
          </a:p>
          <a:p>
            <a:pPr algn="just">
              <a:lnSpc>
                <a:spcPct val="90000"/>
              </a:lnSpc>
              <a:spcBef>
                <a:spcPts val="600"/>
              </a:spcBef>
              <a:spcAft>
                <a:spcPts val="600"/>
              </a:spcAft>
            </a:pPr>
            <a:r>
              <a:rPr lang="en-IN" altLang="en-US" sz="2000" dirty="0"/>
              <a:t>If an overriding qualifier is not provided, the column definition attributes are used. Qualifiers are entered after the asterisks of a wildcard or after a variable, e.g.:</a:t>
            </a:r>
          </a:p>
          <a:p>
            <a:pPr lvl="1" algn="just"/>
            <a:r>
              <a:rPr lang="en-IN" sz="2000" dirty="0"/>
              <a:t>[DEP]BAL &gt; &lt;&lt;*/DEF=100&gt;&gt; - provide a default value, which will be displayed when the prompt screen is displayed, of 100</a:t>
            </a:r>
          </a:p>
          <a:p>
            <a:pPr lvl="1" algn="just"/>
            <a:r>
              <a:rPr lang="en-IN" sz="2000" dirty="0"/>
              <a:t>[ACN]ODT &lt;&lt;**/PRO=Date Opened&gt;&gt; - provides a prompt of "Date Opened" instead of "Date Account Opened" from the ACN.ODT column definition</a:t>
            </a:r>
          </a:p>
          <a:p>
            <a:pPr lvl="1" algn="just"/>
            <a:r>
              <a:rPr lang="en-IN" sz="2000" dirty="0"/>
              <a:t>&amp;&lt;&lt;</a:t>
            </a:r>
            <a:r>
              <a:rPr lang="en-IN" sz="2000" dirty="0" err="1"/>
              <a:t>toDate</a:t>
            </a:r>
            <a:r>
              <a:rPr lang="en-IN" sz="2000" dirty="0"/>
              <a:t>&gt;&gt;/FOR=D/LEN=10/PRO="To Date"/REQ=1 - indicates the format is "D" data type for date, length allowed for data entered is 10, provides a prompt, and indicate input is required.</a:t>
            </a:r>
          </a:p>
          <a:p>
            <a:pPr algn="just">
              <a:lnSpc>
                <a:spcPct val="90000"/>
              </a:lnSpc>
            </a:pPr>
            <a:endParaRPr lang="en-US" altLang="en-US" sz="2000" dirty="0"/>
          </a:p>
        </p:txBody>
      </p:sp>
    </p:spTree>
    <p:extLst>
      <p:ext uri="{BB962C8B-B14F-4D97-AF65-F5344CB8AC3E}">
        <p14:creationId xmlns:p14="http://schemas.microsoft.com/office/powerpoint/2010/main" val="4179327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1ED2264-14B7-4301-91D4-7812BCA29D81}"/>
              </a:ext>
            </a:extLst>
          </p:cNvPr>
          <p:cNvSpPr>
            <a:spLocks noGrp="1" noChangeArrowheads="1"/>
          </p:cNvSpPr>
          <p:nvPr>
            <p:ph type="title"/>
          </p:nvPr>
        </p:nvSpPr>
        <p:spPr/>
        <p:txBody>
          <a:bodyPr/>
          <a:lstStyle/>
          <a:p>
            <a:r>
              <a:rPr lang="en-US" altLang="en-US" dirty="0"/>
              <a:t>Prompts Qualifier</a:t>
            </a:r>
          </a:p>
        </p:txBody>
      </p:sp>
      <p:sp>
        <p:nvSpPr>
          <p:cNvPr id="53251" name="Rectangle 3">
            <a:extLst>
              <a:ext uri="{FF2B5EF4-FFF2-40B4-BE49-F238E27FC236}">
                <a16:creationId xmlns:a16="http://schemas.microsoft.com/office/drawing/2014/main" id="{7C0A0786-844C-4935-8D17-0E6D7A6939F6}"/>
              </a:ext>
            </a:extLst>
          </p:cNvPr>
          <p:cNvSpPr>
            <a:spLocks noGrp="1" noChangeArrowheads="1"/>
          </p:cNvSpPr>
          <p:nvPr>
            <p:ph type="body" idx="1"/>
          </p:nvPr>
        </p:nvSpPr>
        <p:spPr>
          <a:xfrm>
            <a:off x="381000" y="1033463"/>
            <a:ext cx="8305800" cy="5725146"/>
          </a:xfrm>
        </p:spPr>
        <p:txBody>
          <a:bodyPr/>
          <a:lstStyle/>
          <a:p>
            <a:pPr algn="just">
              <a:lnSpc>
                <a:spcPct val="90000"/>
              </a:lnSpc>
              <a:spcBef>
                <a:spcPts val="600"/>
              </a:spcBef>
              <a:spcAft>
                <a:spcPts val="600"/>
              </a:spcAft>
            </a:pPr>
            <a:r>
              <a:rPr lang="en-IN" altLang="en-US" dirty="0"/>
              <a:t>The following qualifiers are available. As shown in the examples, they can be shortened to a unique qualifier name</a:t>
            </a:r>
          </a:p>
          <a:p>
            <a:pPr lvl="1" algn="just">
              <a:lnSpc>
                <a:spcPct val="90000"/>
              </a:lnSpc>
              <a:spcBef>
                <a:spcPts val="600"/>
              </a:spcBef>
              <a:spcAft>
                <a:spcPts val="600"/>
              </a:spcAft>
              <a:buFont typeface="Wingdings" panose="05000000000000000000" pitchFamily="2" charset="2"/>
              <a:buChar char="Ø"/>
            </a:pPr>
            <a:r>
              <a:rPr lang="en-IN" altLang="en-US" sz="2000" dirty="0"/>
              <a:t>FORMAT or TYP - valid DATA-QWIK data type. If not provided for a variable, T is used.</a:t>
            </a:r>
          </a:p>
          <a:p>
            <a:pPr lvl="1" algn="just">
              <a:lnSpc>
                <a:spcPct val="90000"/>
              </a:lnSpc>
              <a:spcBef>
                <a:spcPts val="600"/>
              </a:spcBef>
              <a:spcAft>
                <a:spcPts val="600"/>
              </a:spcAft>
              <a:buFont typeface="Wingdings" panose="05000000000000000000" pitchFamily="2" charset="2"/>
              <a:buChar char="Ø"/>
            </a:pPr>
            <a:r>
              <a:rPr lang="en-IN" altLang="en-US" sz="2000" dirty="0"/>
              <a:t>LENGTH - maximum length of input allowed.</a:t>
            </a:r>
          </a:p>
          <a:p>
            <a:pPr lvl="1" algn="just">
              <a:lnSpc>
                <a:spcPct val="90000"/>
              </a:lnSpc>
              <a:spcBef>
                <a:spcPts val="600"/>
              </a:spcBef>
              <a:spcAft>
                <a:spcPts val="600"/>
              </a:spcAft>
              <a:buFont typeface="Wingdings" panose="05000000000000000000" pitchFamily="2" charset="2"/>
              <a:buChar char="Ø"/>
            </a:pPr>
            <a:r>
              <a:rPr lang="en-IN" altLang="en-US" sz="2000" dirty="0"/>
              <a:t>DEFAULT - default value to display when the prompt screen is displayed. For double wildcard queries, the default value is "ALL".</a:t>
            </a:r>
          </a:p>
          <a:p>
            <a:pPr lvl="1" algn="just">
              <a:lnSpc>
                <a:spcPct val="90000"/>
              </a:lnSpc>
              <a:spcBef>
                <a:spcPts val="600"/>
              </a:spcBef>
              <a:spcAft>
                <a:spcPts val="600"/>
              </a:spcAft>
              <a:buFont typeface="Wingdings" panose="05000000000000000000" pitchFamily="2" charset="2"/>
              <a:buChar char="Ø"/>
            </a:pPr>
            <a:r>
              <a:rPr lang="en-IN" altLang="en-US" sz="2000" dirty="0"/>
              <a:t>HELP - column to use for on-line help.</a:t>
            </a:r>
          </a:p>
          <a:p>
            <a:pPr lvl="1" algn="just">
              <a:lnSpc>
                <a:spcPct val="90000"/>
              </a:lnSpc>
              <a:spcBef>
                <a:spcPts val="600"/>
              </a:spcBef>
              <a:spcAft>
                <a:spcPts val="600"/>
              </a:spcAft>
              <a:buFont typeface="Wingdings" panose="05000000000000000000" pitchFamily="2" charset="2"/>
              <a:buChar char="Ø"/>
            </a:pPr>
            <a:r>
              <a:rPr lang="en-IN" altLang="en-US" sz="2000" dirty="0"/>
              <a:t>TABLE or TBL - look-up table.</a:t>
            </a:r>
          </a:p>
          <a:p>
            <a:pPr lvl="1" algn="just">
              <a:lnSpc>
                <a:spcPct val="90000"/>
              </a:lnSpc>
              <a:spcBef>
                <a:spcPts val="600"/>
              </a:spcBef>
              <a:spcAft>
                <a:spcPts val="600"/>
              </a:spcAft>
              <a:buFont typeface="Wingdings" panose="05000000000000000000" pitchFamily="2" charset="2"/>
              <a:buChar char="Ø"/>
            </a:pPr>
            <a:r>
              <a:rPr lang="en-IN" altLang="en-US" sz="2000" dirty="0"/>
              <a:t>PATTERN - pattern match.</a:t>
            </a:r>
          </a:p>
          <a:p>
            <a:pPr lvl="1" algn="just">
              <a:lnSpc>
                <a:spcPct val="90000"/>
              </a:lnSpc>
              <a:spcBef>
                <a:spcPts val="600"/>
              </a:spcBef>
              <a:spcAft>
                <a:spcPts val="600"/>
              </a:spcAft>
              <a:buFont typeface="Wingdings" panose="05000000000000000000" pitchFamily="2" charset="2"/>
              <a:buChar char="Ø"/>
            </a:pPr>
            <a:r>
              <a:rPr lang="en-IN" altLang="en-US" sz="2000" dirty="0"/>
              <a:t>PROMPT - prompt to display.</a:t>
            </a:r>
          </a:p>
        </p:txBody>
      </p:sp>
    </p:spTree>
    <p:extLst>
      <p:ext uri="{BB962C8B-B14F-4D97-AF65-F5344CB8AC3E}">
        <p14:creationId xmlns:p14="http://schemas.microsoft.com/office/powerpoint/2010/main" val="2333427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1ED2264-14B7-4301-91D4-7812BCA29D81}"/>
              </a:ext>
            </a:extLst>
          </p:cNvPr>
          <p:cNvSpPr>
            <a:spLocks noGrp="1" noChangeArrowheads="1"/>
          </p:cNvSpPr>
          <p:nvPr>
            <p:ph type="title"/>
          </p:nvPr>
        </p:nvSpPr>
        <p:spPr/>
        <p:txBody>
          <a:bodyPr/>
          <a:lstStyle/>
          <a:p>
            <a:r>
              <a:rPr lang="en-US" altLang="en-US" dirty="0"/>
              <a:t>Prompts Qualifier</a:t>
            </a:r>
          </a:p>
        </p:txBody>
      </p:sp>
      <p:sp>
        <p:nvSpPr>
          <p:cNvPr id="53251" name="Rectangle 3">
            <a:extLst>
              <a:ext uri="{FF2B5EF4-FFF2-40B4-BE49-F238E27FC236}">
                <a16:creationId xmlns:a16="http://schemas.microsoft.com/office/drawing/2014/main" id="{7C0A0786-844C-4935-8D17-0E6D7A6939F6}"/>
              </a:ext>
            </a:extLst>
          </p:cNvPr>
          <p:cNvSpPr>
            <a:spLocks noGrp="1" noChangeArrowheads="1"/>
          </p:cNvSpPr>
          <p:nvPr>
            <p:ph type="body" idx="1"/>
          </p:nvPr>
        </p:nvSpPr>
        <p:spPr>
          <a:xfrm>
            <a:off x="381000" y="1033463"/>
            <a:ext cx="8305800" cy="4424802"/>
          </a:xfrm>
        </p:spPr>
        <p:txBody>
          <a:bodyPr/>
          <a:lstStyle/>
          <a:p>
            <a:pPr lvl="1" algn="just">
              <a:lnSpc>
                <a:spcPct val="90000"/>
              </a:lnSpc>
              <a:spcBef>
                <a:spcPts val="600"/>
              </a:spcBef>
              <a:spcAft>
                <a:spcPts val="600"/>
              </a:spcAft>
              <a:buFont typeface="Wingdings" panose="05000000000000000000" pitchFamily="2" charset="2"/>
              <a:buChar char="Ø"/>
            </a:pPr>
            <a:r>
              <a:rPr lang="en-IN" altLang="en-US" sz="2000" dirty="0"/>
              <a:t>REQUIRED - 1 to indicate a value must be entered, 0 otherwise. The default is 0 except for single wildcard prompts, which automatically require input, with a default value of "ALL".</a:t>
            </a:r>
          </a:p>
          <a:p>
            <a:pPr lvl="1" algn="just">
              <a:lnSpc>
                <a:spcPct val="90000"/>
              </a:lnSpc>
              <a:spcBef>
                <a:spcPts val="600"/>
              </a:spcBef>
              <a:spcAft>
                <a:spcPts val="600"/>
              </a:spcAft>
              <a:buFont typeface="Wingdings" panose="05000000000000000000" pitchFamily="2" charset="2"/>
              <a:buChar char="Ø"/>
            </a:pPr>
            <a:r>
              <a:rPr lang="en-IN" altLang="en-US" sz="2000" dirty="0"/>
              <a:t>POST - prompt post-processor code. This code must be written in M, not PSL. The input value is available in the variable X. A common use of this code is to validate the input. Setting ER=1,RM="some message" will cause the screen handler to indicate an error, display the message, and not allow input to move past the prompt.</a:t>
            </a:r>
          </a:p>
          <a:p>
            <a:pPr lvl="1" algn="just">
              <a:lnSpc>
                <a:spcPct val="90000"/>
              </a:lnSpc>
              <a:spcBef>
                <a:spcPts val="600"/>
              </a:spcBef>
              <a:spcAft>
                <a:spcPts val="600"/>
              </a:spcAft>
              <a:buFont typeface="Wingdings" panose="05000000000000000000" pitchFamily="2" charset="2"/>
              <a:buChar char="Ø"/>
            </a:pPr>
            <a:r>
              <a:rPr lang="en-IN" altLang="en-US" sz="2000" dirty="0"/>
              <a:t>PRE - prompt pre-processor code. This code must be written in M, not PSL. A common use of a pre-processor is to set up an array to be used as the value for the look-up table.</a:t>
            </a:r>
          </a:p>
          <a:p>
            <a:pPr lvl="1" algn="just">
              <a:lnSpc>
                <a:spcPct val="90000"/>
              </a:lnSpc>
              <a:spcBef>
                <a:spcPts val="600"/>
              </a:spcBef>
              <a:spcAft>
                <a:spcPts val="600"/>
              </a:spcAft>
              <a:buFont typeface="Wingdings" panose="05000000000000000000" pitchFamily="2" charset="2"/>
              <a:buChar char="Ø"/>
            </a:pPr>
            <a:r>
              <a:rPr lang="en-IN" altLang="en-US" sz="2000" dirty="0"/>
              <a:t>MINIMUM - minimum value</a:t>
            </a:r>
          </a:p>
          <a:p>
            <a:pPr lvl="1" algn="just">
              <a:lnSpc>
                <a:spcPct val="90000"/>
              </a:lnSpc>
              <a:spcBef>
                <a:spcPts val="600"/>
              </a:spcBef>
              <a:spcAft>
                <a:spcPts val="600"/>
              </a:spcAft>
              <a:buFont typeface="Wingdings" panose="05000000000000000000" pitchFamily="2" charset="2"/>
              <a:buChar char="Ø"/>
            </a:pPr>
            <a:r>
              <a:rPr lang="en-IN" altLang="en-US" sz="2000" dirty="0"/>
              <a:t>MAXIMUM - maximum value</a:t>
            </a:r>
          </a:p>
          <a:p>
            <a:pPr lvl="1" algn="just">
              <a:lnSpc>
                <a:spcPct val="90000"/>
              </a:lnSpc>
              <a:spcBef>
                <a:spcPts val="600"/>
              </a:spcBef>
              <a:spcAft>
                <a:spcPts val="600"/>
              </a:spcAft>
              <a:buFont typeface="Wingdings" panose="05000000000000000000" pitchFamily="2" charset="2"/>
              <a:buChar char="Ø"/>
            </a:pPr>
            <a:r>
              <a:rPr lang="en-IN" altLang="en-US" sz="2000" dirty="0"/>
              <a:t>DECIMAL - decimal precision</a:t>
            </a:r>
            <a:endParaRPr lang="en-US" altLang="en-US" sz="2000" dirty="0"/>
          </a:p>
        </p:txBody>
      </p:sp>
    </p:spTree>
    <p:extLst>
      <p:ext uri="{BB962C8B-B14F-4D97-AF65-F5344CB8AC3E}">
        <p14:creationId xmlns:p14="http://schemas.microsoft.com/office/powerpoint/2010/main" val="3846420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81ED2264-14B7-4301-91D4-7812BCA29D81}"/>
              </a:ext>
            </a:extLst>
          </p:cNvPr>
          <p:cNvSpPr>
            <a:spLocks noGrp="1" noChangeArrowheads="1"/>
          </p:cNvSpPr>
          <p:nvPr>
            <p:ph type="title"/>
          </p:nvPr>
        </p:nvSpPr>
        <p:spPr/>
        <p:txBody>
          <a:bodyPr/>
          <a:lstStyle/>
          <a:p>
            <a:r>
              <a:rPr lang="en-US" altLang="en-US" dirty="0"/>
              <a:t>Prompts Qualifier</a:t>
            </a:r>
          </a:p>
        </p:txBody>
      </p:sp>
      <p:sp>
        <p:nvSpPr>
          <p:cNvPr id="53251" name="Rectangle 3">
            <a:extLst>
              <a:ext uri="{FF2B5EF4-FFF2-40B4-BE49-F238E27FC236}">
                <a16:creationId xmlns:a16="http://schemas.microsoft.com/office/drawing/2014/main" id="{7C0A0786-844C-4935-8D17-0E6D7A6939F6}"/>
              </a:ext>
            </a:extLst>
          </p:cNvPr>
          <p:cNvSpPr>
            <a:spLocks noGrp="1" noChangeArrowheads="1"/>
          </p:cNvSpPr>
          <p:nvPr>
            <p:ph type="body" idx="1"/>
          </p:nvPr>
        </p:nvSpPr>
        <p:spPr>
          <a:xfrm>
            <a:off x="381000" y="1033463"/>
            <a:ext cx="8305800" cy="4424802"/>
          </a:xfrm>
        </p:spPr>
        <p:txBody>
          <a:bodyPr/>
          <a:lstStyle/>
          <a:p>
            <a:pPr marL="0" indent="-57150">
              <a:lnSpc>
                <a:spcPct val="90000"/>
              </a:lnSpc>
              <a:spcBef>
                <a:spcPts val="600"/>
              </a:spcBef>
              <a:spcAft>
                <a:spcPts val="600"/>
              </a:spcAft>
              <a:buNone/>
            </a:pPr>
            <a:r>
              <a:rPr lang="en-US" altLang="en-US" sz="2200" dirty="0"/>
              <a:t>Example</a:t>
            </a:r>
          </a:p>
          <a:p>
            <a:pPr marL="0" indent="0">
              <a:buNone/>
            </a:pPr>
            <a:r>
              <a:rPr lang="en-US" altLang="en-US" dirty="0"/>
              <a:t>Instead of prompting with the description field of a data item.</a:t>
            </a:r>
          </a:p>
          <a:p>
            <a:pPr marL="0" indent="0">
              <a:buNone/>
            </a:pPr>
            <a:r>
              <a:rPr lang="en-US" altLang="en-US" dirty="0"/>
              <a:t>Use &lt;&lt;**/PRO=&gt;&gt;</a:t>
            </a:r>
          </a:p>
          <a:p>
            <a:pPr marL="0" indent="0">
              <a:buNone/>
            </a:pPr>
            <a:r>
              <a:rPr lang="en-US" altLang="en-US" dirty="0"/>
              <a:t>[DEP]CID &lt;&lt;**/PRO=Enter Account&gt;&gt;	</a:t>
            </a:r>
          </a:p>
          <a:p>
            <a:pPr>
              <a:buFontTx/>
              <a:buNone/>
            </a:pPr>
            <a:r>
              <a:rPr lang="en-US" altLang="en-US" dirty="0"/>
              <a:t>	Enter Account:  </a:t>
            </a:r>
          </a:p>
          <a:p>
            <a:pPr>
              <a:buFontTx/>
              <a:buNone/>
            </a:pPr>
            <a:endParaRPr lang="en-US" altLang="en-US" dirty="0"/>
          </a:p>
          <a:p>
            <a:pPr marL="0" indent="0">
              <a:buNone/>
            </a:pPr>
            <a:r>
              <a:rPr lang="en-US" altLang="en-US" dirty="0"/>
              <a:t>Set a default value prompt other than “ALL”</a:t>
            </a:r>
          </a:p>
          <a:p>
            <a:pPr marL="0" indent="0">
              <a:buNone/>
            </a:pPr>
            <a:r>
              <a:rPr lang="en-US" altLang="en-US" dirty="0"/>
              <a:t>Use &lt;&lt;**/DEF=&gt;&gt;</a:t>
            </a:r>
            <a:endParaRPr lang="en-US" altLang="en-US" b="1" dirty="0"/>
          </a:p>
          <a:p>
            <a:pPr marL="0" indent="0">
              <a:buNone/>
            </a:pPr>
            <a:r>
              <a:rPr lang="en-US" altLang="en-US" b="1" dirty="0"/>
              <a:t>Example:</a:t>
            </a:r>
            <a:endParaRPr lang="en-US" altLang="en-US" dirty="0"/>
          </a:p>
          <a:p>
            <a:pPr lvl="1">
              <a:buFontTx/>
              <a:buNone/>
            </a:pPr>
            <a:r>
              <a:rPr lang="en-US" altLang="en-US" dirty="0"/>
              <a:t>[XCLS]GRP &lt;&lt;**/DEF=“MTG”&gt;&gt;</a:t>
            </a:r>
          </a:p>
          <a:p>
            <a:pPr lvl="1">
              <a:buFontTx/>
              <a:buNone/>
            </a:pPr>
            <a:r>
              <a:rPr lang="en-US" altLang="en-US" dirty="0"/>
              <a:t>Account Group is equal to: MTG</a:t>
            </a:r>
          </a:p>
          <a:p>
            <a:pPr>
              <a:buFontTx/>
              <a:buNone/>
            </a:pPr>
            <a:endParaRPr lang="en-US" altLang="en-US" dirty="0"/>
          </a:p>
          <a:p>
            <a:pPr lvl="1" algn="just">
              <a:lnSpc>
                <a:spcPct val="90000"/>
              </a:lnSpc>
              <a:spcBef>
                <a:spcPts val="600"/>
              </a:spcBef>
              <a:spcAft>
                <a:spcPts val="600"/>
              </a:spcAft>
              <a:buFont typeface="Wingdings" panose="05000000000000000000" pitchFamily="2" charset="2"/>
              <a:buChar char="Ø"/>
            </a:pPr>
            <a:endParaRPr lang="en-US" altLang="en-US" sz="2000" dirty="0"/>
          </a:p>
        </p:txBody>
      </p:sp>
    </p:spTree>
    <p:extLst>
      <p:ext uri="{BB962C8B-B14F-4D97-AF65-F5344CB8AC3E}">
        <p14:creationId xmlns:p14="http://schemas.microsoft.com/office/powerpoint/2010/main" val="2397802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1690992-8CA1-445F-9A78-DC59CDEE2E3C}"/>
              </a:ext>
            </a:extLst>
          </p:cNvPr>
          <p:cNvSpPr>
            <a:spLocks noGrp="1" noChangeArrowheads="1"/>
          </p:cNvSpPr>
          <p:nvPr>
            <p:ph type="title"/>
          </p:nvPr>
        </p:nvSpPr>
        <p:spPr/>
        <p:txBody>
          <a:bodyPr/>
          <a:lstStyle/>
          <a:p>
            <a:r>
              <a:rPr lang="en-US" altLang="en-US" dirty="0"/>
              <a:t>Report Writer Functions</a:t>
            </a:r>
          </a:p>
        </p:txBody>
      </p:sp>
      <p:sp>
        <p:nvSpPr>
          <p:cNvPr id="50179" name="Rectangle 3">
            <a:extLst>
              <a:ext uri="{FF2B5EF4-FFF2-40B4-BE49-F238E27FC236}">
                <a16:creationId xmlns:a16="http://schemas.microsoft.com/office/drawing/2014/main" id="{052C0F58-D448-4F01-A547-D1751CB3AD1C}"/>
              </a:ext>
            </a:extLst>
          </p:cNvPr>
          <p:cNvSpPr>
            <a:spLocks noGrp="1" noChangeArrowheads="1"/>
          </p:cNvSpPr>
          <p:nvPr>
            <p:ph type="body" idx="1"/>
          </p:nvPr>
        </p:nvSpPr>
        <p:spPr>
          <a:xfrm>
            <a:off x="381000" y="1203463"/>
            <a:ext cx="8305800" cy="4438650"/>
          </a:xfrm>
        </p:spPr>
        <p:txBody>
          <a:bodyPr/>
          <a:lstStyle/>
          <a:p>
            <a:pPr algn="just">
              <a:lnSpc>
                <a:spcPct val="80000"/>
              </a:lnSpc>
            </a:pPr>
            <a:r>
              <a:rPr lang="en-US" altLang="en-US" sz="2000" dirty="0"/>
              <a:t>In Profile functions allow users to perform tasks without having to search through several menus because functions can be entered from any menu in the system.</a:t>
            </a:r>
          </a:p>
          <a:p>
            <a:pPr algn="just">
              <a:lnSpc>
                <a:spcPct val="80000"/>
              </a:lnSpc>
            </a:pPr>
            <a:endParaRPr lang="en-US" altLang="en-US" sz="2000" b="1" dirty="0"/>
          </a:p>
          <a:p>
            <a:pPr algn="just">
              <a:lnSpc>
                <a:spcPct val="80000"/>
              </a:lnSpc>
            </a:pPr>
            <a:r>
              <a:rPr lang="en-US" altLang="en-US" sz="2000" dirty="0"/>
              <a:t>A function may be created which will allow a user to run a report from any menu in Profile.  The </a:t>
            </a:r>
            <a:r>
              <a:rPr lang="en-US" altLang="en-US" sz="2000" i="1" dirty="0"/>
              <a:t>Create Report Writer Function</a:t>
            </a:r>
            <a:r>
              <a:rPr lang="en-US" altLang="en-US" sz="2000" dirty="0"/>
              <a:t> (DBSEXEFN) utility is used to accomplish this.</a:t>
            </a:r>
          </a:p>
          <a:p>
            <a:pPr algn="just">
              <a:lnSpc>
                <a:spcPct val="80000"/>
              </a:lnSpc>
            </a:pPr>
            <a:endParaRPr lang="en-US" altLang="en-US" sz="2000" dirty="0"/>
          </a:p>
          <a:p>
            <a:pPr algn="just">
              <a:lnSpc>
                <a:spcPct val="80000"/>
              </a:lnSpc>
            </a:pPr>
            <a:r>
              <a:rPr lang="en-US" altLang="en-US" sz="2000" dirty="0"/>
              <a:t>The following are the field descriptions for the fields located on this screen:</a:t>
            </a:r>
            <a:endParaRPr lang="en-US" altLang="en-US" sz="2000" i="1" dirty="0"/>
          </a:p>
          <a:p>
            <a:pPr lvl="1" algn="just">
              <a:lnSpc>
                <a:spcPct val="80000"/>
              </a:lnSpc>
            </a:pPr>
            <a:r>
              <a:rPr lang="en-US" altLang="en-US" sz="1800" i="1" dirty="0"/>
              <a:t>Report Name</a:t>
            </a:r>
            <a:r>
              <a:rPr lang="en-US" altLang="en-US" sz="1800" dirty="0"/>
              <a:t> - Name of the report that the function will access.</a:t>
            </a:r>
            <a:endParaRPr lang="en-US" altLang="en-US" sz="1800" i="1" dirty="0"/>
          </a:p>
          <a:p>
            <a:pPr lvl="1" algn="just">
              <a:lnSpc>
                <a:spcPct val="80000"/>
              </a:lnSpc>
            </a:pPr>
            <a:r>
              <a:rPr lang="en-US" altLang="en-US" sz="1800" i="1" dirty="0"/>
              <a:t>Function Name</a:t>
            </a:r>
            <a:r>
              <a:rPr lang="en-US" altLang="en-US" sz="1800" dirty="0"/>
              <a:t> - The name of the function.  It is recommended to give the same name to the function as the report, but no required.</a:t>
            </a:r>
            <a:endParaRPr lang="en-US" altLang="en-US" sz="1800" i="1" dirty="0"/>
          </a:p>
          <a:p>
            <a:pPr lvl="1" algn="just">
              <a:lnSpc>
                <a:spcPct val="80000"/>
              </a:lnSpc>
            </a:pPr>
            <a:r>
              <a:rPr lang="en-US" altLang="en-US" sz="1800" i="1" dirty="0"/>
              <a:t>Function Description</a:t>
            </a:r>
            <a:r>
              <a:rPr lang="en-US" altLang="en-US" sz="1800" dirty="0"/>
              <a:t> - A free-form text field to provide a description for the function.</a:t>
            </a:r>
          </a:p>
          <a:p>
            <a:pPr lvl="1" algn="just">
              <a:lnSpc>
                <a:spcPct val="80000"/>
              </a:lnSpc>
            </a:pPr>
            <a:endParaRPr lang="en-US" altLang="en-US" sz="1800" dirty="0"/>
          </a:p>
          <a:p>
            <a:pPr algn="just">
              <a:lnSpc>
                <a:spcPct val="80000"/>
              </a:lnSpc>
            </a:pPr>
            <a:r>
              <a:rPr lang="en-US" altLang="en-US" sz="2000" dirty="0"/>
              <a:t>NOTE: The report must be recompiled after a function is created. </a:t>
            </a:r>
          </a:p>
        </p:txBody>
      </p:sp>
    </p:spTree>
    <p:extLst>
      <p:ext uri="{BB962C8B-B14F-4D97-AF65-F5344CB8AC3E}">
        <p14:creationId xmlns:p14="http://schemas.microsoft.com/office/powerpoint/2010/main" val="3502613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1690992-8CA1-445F-9A78-DC59CDEE2E3C}"/>
              </a:ext>
            </a:extLst>
          </p:cNvPr>
          <p:cNvSpPr>
            <a:spLocks noGrp="1" noChangeArrowheads="1"/>
          </p:cNvSpPr>
          <p:nvPr>
            <p:ph type="title"/>
          </p:nvPr>
        </p:nvSpPr>
        <p:spPr/>
        <p:txBody>
          <a:bodyPr/>
          <a:lstStyle/>
          <a:p>
            <a:r>
              <a:rPr lang="en-US" altLang="en-US" dirty="0"/>
              <a:t>Exercise</a:t>
            </a:r>
          </a:p>
        </p:txBody>
      </p:sp>
      <p:sp>
        <p:nvSpPr>
          <p:cNvPr id="50179" name="Rectangle 3">
            <a:extLst>
              <a:ext uri="{FF2B5EF4-FFF2-40B4-BE49-F238E27FC236}">
                <a16:creationId xmlns:a16="http://schemas.microsoft.com/office/drawing/2014/main" id="{052C0F58-D448-4F01-A547-D1751CB3AD1C}"/>
              </a:ext>
            </a:extLst>
          </p:cNvPr>
          <p:cNvSpPr>
            <a:spLocks noGrp="1" noChangeArrowheads="1"/>
          </p:cNvSpPr>
          <p:nvPr>
            <p:ph type="body" idx="1"/>
          </p:nvPr>
        </p:nvSpPr>
        <p:spPr>
          <a:xfrm>
            <a:off x="381000" y="1203463"/>
            <a:ext cx="8305800" cy="583134"/>
          </a:xfrm>
        </p:spPr>
        <p:txBody>
          <a:bodyPr/>
          <a:lstStyle/>
          <a:p>
            <a:pPr algn="just">
              <a:lnSpc>
                <a:spcPct val="80000"/>
              </a:lnSpc>
            </a:pPr>
            <a:r>
              <a:rPr lang="en-US" altLang="en-US" sz="2000" dirty="0"/>
              <a:t>Create report with the layout as shown below</a:t>
            </a:r>
          </a:p>
          <a:p>
            <a:pPr algn="just">
              <a:lnSpc>
                <a:spcPct val="80000"/>
              </a:lnSpc>
            </a:pPr>
            <a:r>
              <a:rPr lang="en-US" altLang="en-US" sz="2000" dirty="0"/>
              <a:t>Access file: </a:t>
            </a:r>
            <a:r>
              <a:rPr lang="en-US" altLang="en-US" sz="2000" dirty="0" err="1"/>
              <a:t>ZCUSTxxx</a:t>
            </a:r>
            <a:r>
              <a:rPr lang="en-US" altLang="en-US" sz="2000" dirty="0"/>
              <a:t> table (created before)</a:t>
            </a:r>
          </a:p>
          <a:p>
            <a:pPr algn="just">
              <a:lnSpc>
                <a:spcPct val="80000"/>
              </a:lnSpc>
            </a:pPr>
            <a:r>
              <a:rPr lang="en-US" altLang="en-US" sz="2000" dirty="0"/>
              <a:t>This report should display records from </a:t>
            </a:r>
            <a:r>
              <a:rPr lang="en-US" altLang="en-US" sz="2000" dirty="0" err="1"/>
              <a:t>ZCUSTxxx</a:t>
            </a:r>
            <a:r>
              <a:rPr lang="en-US" altLang="en-US" sz="2000" dirty="0"/>
              <a:t> table as shown below</a:t>
            </a:r>
          </a:p>
          <a:p>
            <a:pPr algn="just">
              <a:lnSpc>
                <a:spcPct val="80000"/>
              </a:lnSpc>
            </a:pPr>
            <a:endParaRPr lang="en-US" altLang="en-US" sz="2000" dirty="0"/>
          </a:p>
        </p:txBody>
      </p:sp>
      <p:pic>
        <p:nvPicPr>
          <p:cNvPr id="5" name="Picture 4">
            <a:extLst>
              <a:ext uri="{FF2B5EF4-FFF2-40B4-BE49-F238E27FC236}">
                <a16:creationId xmlns:a16="http://schemas.microsoft.com/office/drawing/2014/main" id="{437AC86F-74DE-4AA4-A9C9-E539C8523D1F}"/>
              </a:ext>
            </a:extLst>
          </p:cNvPr>
          <p:cNvPicPr>
            <a:picLocks noChangeAspect="1"/>
          </p:cNvPicPr>
          <p:nvPr/>
        </p:nvPicPr>
        <p:blipFill>
          <a:blip r:embed="rId2"/>
          <a:stretch>
            <a:fillRect/>
          </a:stretch>
        </p:blipFill>
        <p:spPr>
          <a:xfrm>
            <a:off x="884641" y="2364560"/>
            <a:ext cx="7802159" cy="3853360"/>
          </a:xfrm>
          <a:prstGeom prst="rect">
            <a:avLst/>
          </a:prstGeom>
        </p:spPr>
      </p:pic>
      <p:pic>
        <p:nvPicPr>
          <p:cNvPr id="6" name="Picture 5">
            <a:extLst>
              <a:ext uri="{FF2B5EF4-FFF2-40B4-BE49-F238E27FC236}">
                <a16:creationId xmlns:a16="http://schemas.microsoft.com/office/drawing/2014/main" id="{D5D05145-63CF-4AED-843A-C8FA23105165}"/>
              </a:ext>
            </a:extLst>
          </p:cNvPr>
          <p:cNvPicPr>
            <a:picLocks noChangeAspect="1"/>
          </p:cNvPicPr>
          <p:nvPr/>
        </p:nvPicPr>
        <p:blipFill>
          <a:blip r:embed="rId3"/>
          <a:stretch>
            <a:fillRect/>
          </a:stretch>
        </p:blipFill>
        <p:spPr>
          <a:xfrm>
            <a:off x="4391025" y="3352800"/>
            <a:ext cx="361950" cy="152400"/>
          </a:xfrm>
          <a:prstGeom prst="rect">
            <a:avLst/>
          </a:prstGeom>
        </p:spPr>
      </p:pic>
      <p:pic>
        <p:nvPicPr>
          <p:cNvPr id="7" name="Picture 6">
            <a:extLst>
              <a:ext uri="{FF2B5EF4-FFF2-40B4-BE49-F238E27FC236}">
                <a16:creationId xmlns:a16="http://schemas.microsoft.com/office/drawing/2014/main" id="{C6540B6B-AE71-4EAC-96F8-19BA8791111B}"/>
              </a:ext>
            </a:extLst>
          </p:cNvPr>
          <p:cNvPicPr>
            <a:picLocks noChangeAspect="1"/>
          </p:cNvPicPr>
          <p:nvPr/>
        </p:nvPicPr>
        <p:blipFill>
          <a:blip r:embed="rId4"/>
          <a:stretch>
            <a:fillRect/>
          </a:stretch>
        </p:blipFill>
        <p:spPr>
          <a:xfrm>
            <a:off x="875707" y="2331720"/>
            <a:ext cx="7820025" cy="3886200"/>
          </a:xfrm>
          <a:prstGeom prst="rect">
            <a:avLst/>
          </a:prstGeom>
        </p:spPr>
      </p:pic>
    </p:spTree>
    <p:extLst>
      <p:ext uri="{BB962C8B-B14F-4D97-AF65-F5344CB8AC3E}">
        <p14:creationId xmlns:p14="http://schemas.microsoft.com/office/powerpoint/2010/main" val="280063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719729"/>
      </p:ext>
    </p:extLst>
  </p:cSld>
  <p:clrMapOvr>
    <a:masterClrMapping/>
  </p:clrMapOvr>
</p:sld>
</file>

<file path=ppt/theme/theme1.xml><?xml version="1.0" encoding="utf-8"?>
<a:theme xmlns:a="http://schemas.openxmlformats.org/drawingml/2006/main" name="FIS Corporate Presentation Template 1">
  <a:themeElements>
    <a:clrScheme name="FIS Approved Full Color">
      <a:dk1>
        <a:sysClr val="windowText" lastClr="000000"/>
      </a:dk1>
      <a:lt1>
        <a:sysClr val="window" lastClr="FFFFFF"/>
      </a:lt1>
      <a:dk2>
        <a:srgbClr val="4F6F19"/>
      </a:dk2>
      <a:lt2>
        <a:srgbClr val="EEECE1"/>
      </a:lt2>
      <a:accent1>
        <a:srgbClr val="4F6F19"/>
      </a:accent1>
      <a:accent2>
        <a:srgbClr val="8DC63F"/>
      </a:accent2>
      <a:accent3>
        <a:srgbClr val="807F83"/>
      </a:accent3>
      <a:accent4>
        <a:srgbClr val="642566"/>
      </a:accent4>
      <a:accent5>
        <a:srgbClr val="41C4DC"/>
      </a:accent5>
      <a:accent6>
        <a:srgbClr val="FFC82E"/>
      </a:accent6>
      <a:hlink>
        <a:srgbClr val="41C4DC"/>
      </a:hlink>
      <a:folHlink>
        <a:srgbClr val="E282D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1400" dirty="0" smtClean="0">
            <a:latin typeface="Arial"/>
            <a:cs typeface="Arial"/>
          </a:defRPr>
        </a:defPPr>
      </a:lstStyle>
    </a:txDef>
  </a:objectDefaults>
  <a:extraClrSchemeLst/>
</a:theme>
</file>

<file path=ppt/theme/theme2.xml><?xml version="1.0" encoding="utf-8"?>
<a:theme xmlns:a="http://schemas.openxmlformats.org/drawingml/2006/main" name="1_Office Theme">
  <a:themeElements>
    <a:clrScheme name="1_Office Theme 1">
      <a:dk1>
        <a:srgbClr val="262626"/>
      </a:dk1>
      <a:lt1>
        <a:srgbClr val="FFFFFF"/>
      </a:lt1>
      <a:dk2>
        <a:srgbClr val="6E6F70"/>
      </a:dk2>
      <a:lt2>
        <a:srgbClr val="EEECE1"/>
      </a:lt2>
      <a:accent1>
        <a:srgbClr val="3F5D12"/>
      </a:accent1>
      <a:accent2>
        <a:srgbClr val="7BBE30"/>
      </a:accent2>
      <a:accent3>
        <a:srgbClr val="FFFFFF"/>
      </a:accent3>
      <a:accent4>
        <a:srgbClr val="1F1F1F"/>
      </a:accent4>
      <a:accent5>
        <a:srgbClr val="AFB6AA"/>
      </a:accent5>
      <a:accent6>
        <a:srgbClr val="6FAC2A"/>
      </a:accent6>
      <a:hlink>
        <a:srgbClr val="6D6E72"/>
      </a:hlink>
      <a:folHlink>
        <a:srgbClr val="ADADAD"/>
      </a:folHlink>
    </a:clrScheme>
    <a:fontScheme name="1_Office Them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Theme 1">
        <a:dk1>
          <a:srgbClr val="262626"/>
        </a:dk1>
        <a:lt1>
          <a:srgbClr val="FFFFFF"/>
        </a:lt1>
        <a:dk2>
          <a:srgbClr val="6E6F70"/>
        </a:dk2>
        <a:lt2>
          <a:srgbClr val="EEECE1"/>
        </a:lt2>
        <a:accent1>
          <a:srgbClr val="3F5D12"/>
        </a:accent1>
        <a:accent2>
          <a:srgbClr val="7BBE30"/>
        </a:accent2>
        <a:accent3>
          <a:srgbClr val="FFFFFF"/>
        </a:accent3>
        <a:accent4>
          <a:srgbClr val="1F1F1F"/>
        </a:accent4>
        <a:accent5>
          <a:srgbClr val="AFB6AA"/>
        </a:accent5>
        <a:accent6>
          <a:srgbClr val="6FAC2A"/>
        </a:accent6>
        <a:hlink>
          <a:srgbClr val="6D6E72"/>
        </a:hlink>
        <a:folHlink>
          <a:srgbClr val="ADADA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3B0665FDAC4C40805B947AC77C84F6" ma:contentTypeVersion="14" ma:contentTypeDescription="Create a new document." ma:contentTypeScope="" ma:versionID="c0a95c372fcd1cdb45d3239458f75fce">
  <xsd:schema xmlns:xsd="http://www.w3.org/2001/XMLSchema" xmlns:xs="http://www.w3.org/2001/XMLSchema" xmlns:p="http://schemas.microsoft.com/office/2006/metadata/properties" xmlns:ns1="http://schemas.microsoft.com/sharepoint/v3" xmlns:ns2="a0ed597c-e6be-46e5-96a3-9b188f337366" xmlns:ns3="7bbebfb2-6426-4d0f-8109-5f8fd185dcc1" targetNamespace="http://schemas.microsoft.com/office/2006/metadata/properties" ma:root="true" ma:fieldsID="25f68cb159c00a3705ff048f1c24fa8d" ns1:_="" ns2:_="" ns3:_="">
    <xsd:import namespace="http://schemas.microsoft.com/sharepoint/v3"/>
    <xsd:import namespace="a0ed597c-e6be-46e5-96a3-9b188f337366"/>
    <xsd:import namespace="7bbebfb2-6426-4d0f-8109-5f8fd185dcc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1:_ip_UnifiedCompliancePolicyProperties" minOccurs="0"/>
                <xsd:element ref="ns1:_ip_UnifiedCompliancePolicyUIAction"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ed597c-e6be-46e5-96a3-9b188f3373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bbebfb2-6426-4d0f-8109-5f8fd185dcc1"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151AC913-F8D0-4FB4-92D1-D4B2C0F03F6A}">
  <ds:schemaRefs>
    <ds:schemaRef ds:uri="http://schemas.microsoft.com/sharepoint/v3/contenttype/forms"/>
  </ds:schemaRefs>
</ds:datastoreItem>
</file>

<file path=customXml/itemProps2.xml><?xml version="1.0" encoding="utf-8"?>
<ds:datastoreItem xmlns:ds="http://schemas.openxmlformats.org/officeDocument/2006/customXml" ds:itemID="{95445A69-0740-49DE-961B-8CFDA6D167FC}"/>
</file>

<file path=customXml/itemProps3.xml><?xml version="1.0" encoding="utf-8"?>
<ds:datastoreItem xmlns:ds="http://schemas.openxmlformats.org/officeDocument/2006/customXml" ds:itemID="{C326B81F-E82C-4BB0-9DE0-EF106BA375B2}">
  <ds:schemaRefs>
    <ds:schemaRef ds:uri="http://schemas.microsoft.com/office/2006/metadata/properties"/>
    <ds:schemaRef ds:uri="http://schemas.microsoft.com/sharepoint/v4"/>
  </ds:schemaRefs>
</ds:datastoreItem>
</file>

<file path=docProps/app.xml><?xml version="1.0" encoding="utf-8"?>
<Properties xmlns="http://schemas.openxmlformats.org/officeDocument/2006/extended-properties" xmlns:vt="http://schemas.openxmlformats.org/officeDocument/2006/docPropsVTypes">
  <Template>FIS Corporate Presentation Template 1</Template>
  <TotalTime>9699</TotalTime>
  <Words>3274</Words>
  <Application>Microsoft Office PowerPoint</Application>
  <PresentationFormat>On-screen Show (4:3)</PresentationFormat>
  <Paragraphs>337</Paragraphs>
  <Slides>36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Times New Roman</vt:lpstr>
      <vt:lpstr>Wingdings</vt:lpstr>
      <vt:lpstr>FIS Corporate Presentation Template 1</vt:lpstr>
      <vt:lpstr>1_Office Theme</vt:lpstr>
      <vt:lpstr>Technical Training</vt:lpstr>
      <vt:lpstr>REPORT DEFINITION</vt:lpstr>
      <vt:lpstr>Creating a Report Definition</vt:lpstr>
      <vt:lpstr>Accessing Report Definition</vt:lpstr>
      <vt:lpstr>Accessing Report Definition</vt:lpstr>
      <vt:lpstr>Creating a Report</vt:lpstr>
      <vt:lpstr>Creating a Report</vt:lpstr>
      <vt:lpstr>Creating Reports (cont.)</vt:lpstr>
      <vt:lpstr>Creating Reports (cont.)</vt:lpstr>
      <vt:lpstr>Report Sequence screen</vt:lpstr>
      <vt:lpstr>Report Sequence (cont.)</vt:lpstr>
      <vt:lpstr>Report Editor</vt:lpstr>
      <vt:lpstr>Report Editor</vt:lpstr>
      <vt:lpstr>Reports - Keyboard Map</vt:lpstr>
      <vt:lpstr>Reports - Keyboard Map</vt:lpstr>
      <vt:lpstr>Reports - Keyboard Map</vt:lpstr>
      <vt:lpstr>Reports - Keyboard Map</vt:lpstr>
      <vt:lpstr>Adding data item</vt:lpstr>
      <vt:lpstr>Adding functions</vt:lpstr>
      <vt:lpstr>Variable/Expression</vt:lpstr>
      <vt:lpstr>Creating a variable outside of file</vt:lpstr>
      <vt:lpstr>Adding Header information</vt:lpstr>
      <vt:lpstr>Quick Layout</vt:lpstr>
      <vt:lpstr>Blank Line Suppress</vt:lpstr>
      <vt:lpstr>Prompts and Queries</vt:lpstr>
      <vt:lpstr>Prompts</vt:lpstr>
      <vt:lpstr>Prompts (cont.)</vt:lpstr>
      <vt:lpstr>Prompts (cont.)</vt:lpstr>
      <vt:lpstr>Prompts (cont.)</vt:lpstr>
      <vt:lpstr>Prompts Qualifier</vt:lpstr>
      <vt:lpstr>Prompts Qualifier</vt:lpstr>
      <vt:lpstr>Prompts Qualifier</vt:lpstr>
      <vt:lpstr>Prompts Qualifier</vt:lpstr>
      <vt:lpstr>Report Writer Functions</vt:lpstr>
      <vt:lpstr>Exercise</vt:lpstr>
      <vt:lpstr>PowerPoint Presentation</vt:lpstr>
    </vt:vector>
  </TitlesOfParts>
  <Company>Fidelity National Information Services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Dayend Processing</dc:title>
  <dc:creator>Lutz, Richard</dc:creator>
  <cp:lastModifiedBy>Balakrishnan, Obuliraj</cp:lastModifiedBy>
  <cp:revision>647</cp:revision>
  <dcterms:created xsi:type="dcterms:W3CDTF">2010-02-17T19:37:21Z</dcterms:created>
  <dcterms:modified xsi:type="dcterms:W3CDTF">2019-08-08T06:18:03Z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0x010100043B0665FDAC4C40805B947AC77C84F6</vt:lpwstr>
  </property>
</Properties>
</file>